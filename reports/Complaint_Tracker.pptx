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028090">
              <a:alpha val="45000"/>
            </a:srgbClr>
          </a:solidFill>
          <a:ln/>
        </p:spPr>
      </p:sp>
      <p:sp>
        <p:nvSpPr>
          <p:cNvPr id="3" name="Shape 1"/>
          <p:cNvSpPr/>
          <p:nvPr/>
        </p:nvSpPr>
        <p:spPr>
          <a:xfrm>
            <a:off x="-1463040" y="4754880"/>
            <a:ext cx="3291840" cy="3291840"/>
          </a:xfrm>
          <a:prstGeom prst="ellipse">
            <a:avLst/>
          </a:prstGeom>
          <a:solidFill>
            <a:srgbClr val="00A896">
              <a:alpha val="40000"/>
            </a:srgbClr>
          </a:solidFill>
          <a:ln/>
        </p:spPr>
      </p:sp>
      <p:sp>
        <p:nvSpPr>
          <p:cNvPr id="4" name="Shape 2"/>
          <p:cNvSpPr/>
          <p:nvPr/>
        </p:nvSpPr>
        <p:spPr>
          <a:xfrm>
            <a:off x="1188720" y="1463040"/>
            <a:ext cx="1371600" cy="1371600"/>
          </a:xfrm>
          <a:prstGeom prst="ellipse">
            <a:avLst/>
          </a:prstGeom>
          <a:solidFill>
            <a:srgbClr val="028090"/>
          </a:solidFill>
          <a:ln/>
        </p:spPr>
      </p:sp>
      <p:pic>
        <p:nvPicPr>
          <p:cNvPr id="5" name="Image 0" descr="/home/claude/complaint_tracker/icons/headset_white.png">    </p:cNvPr>
          <p:cNvPicPr>
            <a:picLocks noChangeAspect="1"/>
          </p:cNvPicPr>
          <p:nvPr/>
        </p:nvPicPr>
        <p:blipFill>
          <a:blip r:embed="rId1"/>
          <a:stretch>
            <a:fillRect/>
          </a:stretch>
        </p:blipFill>
        <p:spPr>
          <a:xfrm>
            <a:off x="1531620" y="1805940"/>
            <a:ext cx="685800" cy="685800"/>
          </a:xfrm>
          <a:prstGeom prst="rect">
            <a:avLst/>
          </a:prstGeom>
        </p:spPr>
      </p:pic>
      <p:sp>
        <p:nvSpPr>
          <p:cNvPr id="6" name="Text 3"/>
          <p:cNvSpPr/>
          <p:nvPr/>
        </p:nvSpPr>
        <p:spPr>
          <a:xfrm>
            <a:off x="822960" y="2880360"/>
            <a:ext cx="9875520" cy="960120"/>
          </a:xfrm>
          <a:prstGeom prst="rect">
            <a:avLst/>
          </a:prstGeom>
          <a:noFill/>
          <a:ln/>
        </p:spPr>
        <p:txBody>
          <a:bodyPr wrap="square" rtlCol="0" anchor="ctr"/>
          <a:lstStyle/>
          <a:p>
            <a:pPr algn="l" indent="0" marL="0">
              <a:buNone/>
            </a:pPr>
            <a:r>
              <a:rPr lang="en-US" sz="4400" b="1" spc="100" kern="0" dirty="0">
                <a:solidFill>
                  <a:srgbClr val="FFFFFF"/>
                </a:solidFill>
                <a:latin typeface="Cambria" pitchFamily="34" charset="0"/>
                <a:ea typeface="Cambria" pitchFamily="34" charset="-122"/>
                <a:cs typeface="Cambria" pitchFamily="34" charset="-120"/>
              </a:rPr>
              <a:t>COMPLAINT TRACKER</a:t>
            </a:r>
            <a:endParaRPr lang="en-US" sz="4400" dirty="0"/>
          </a:p>
        </p:txBody>
      </p:sp>
      <p:sp>
        <p:nvSpPr>
          <p:cNvPr id="7" name="Text 4"/>
          <p:cNvSpPr/>
          <p:nvPr/>
        </p:nvSpPr>
        <p:spPr>
          <a:xfrm>
            <a:off x="822960" y="3703320"/>
            <a:ext cx="8778240" cy="640080"/>
          </a:xfrm>
          <a:prstGeom prst="rect">
            <a:avLst/>
          </a:prstGeom>
          <a:noFill/>
          <a:ln/>
        </p:spPr>
        <p:txBody>
          <a:bodyPr wrap="square" rtlCol="0" anchor="ctr"/>
          <a:lstStyle/>
          <a:p>
            <a:pPr algn="l" indent="0" marL="0">
              <a:buNone/>
            </a:pPr>
            <a:r>
              <a:rPr lang="en-US" sz="1800" i="1" dirty="0">
                <a:solidFill>
                  <a:srgbClr val="02C39A"/>
                </a:solidFill>
                <a:latin typeface="Calibri" pitchFamily="34" charset="0"/>
                <a:ea typeface="Calibri" pitchFamily="34" charset="-122"/>
                <a:cs typeface="Calibri" pitchFamily="34" charset="-120"/>
              </a:rPr>
              <a:t>A Database-Driven System for Efficient Customer Complaint Management</a:t>
            </a:r>
            <a:endParaRPr lang="en-US" sz="1800" dirty="0"/>
          </a:p>
        </p:txBody>
      </p:sp>
      <p:sp>
        <p:nvSpPr>
          <p:cNvPr id="8" name="Shape 5"/>
          <p:cNvSpPr/>
          <p:nvPr/>
        </p:nvSpPr>
        <p:spPr>
          <a:xfrm>
            <a:off x="868680" y="4434840"/>
            <a:ext cx="2011680" cy="0"/>
          </a:xfrm>
          <a:prstGeom prst="line">
            <a:avLst/>
          </a:prstGeom>
          <a:noFill/>
          <a:ln w="25400">
            <a:solidFill>
              <a:srgbClr val="00A896"/>
            </a:solidFill>
            <a:prstDash val="solid"/>
          </a:ln>
        </p:spPr>
      </p:sp>
      <p:sp>
        <p:nvSpPr>
          <p:cNvPr id="9" name="Text 6"/>
          <p:cNvSpPr/>
          <p:nvPr/>
        </p:nvSpPr>
        <p:spPr>
          <a:xfrm>
            <a:off x="822960" y="4617720"/>
            <a:ext cx="7315200" cy="365760"/>
          </a:xfrm>
          <a:prstGeom prst="rect">
            <a:avLst/>
          </a:prstGeom>
          <a:noFill/>
          <a:ln/>
        </p:spPr>
        <p:txBody>
          <a:bodyPr wrap="square" rtlCol="0" anchor="ctr"/>
          <a:lstStyle/>
          <a:p>
            <a:pPr algn="l" indent="0" marL="0">
              <a:buNone/>
            </a:pPr>
            <a:r>
              <a:rPr lang="en-US" sz="1300" dirty="0">
                <a:solidFill>
                  <a:srgbClr val="F4FAF9"/>
                </a:solidFill>
                <a:latin typeface="Calibri" pitchFamily="34" charset="0"/>
                <a:ea typeface="Calibri" pitchFamily="34" charset="-122"/>
                <a:cs typeface="Calibri" pitchFamily="34" charset="-120"/>
              </a:rPr>
              <a:t>Database Management Systems  |  Mini Project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640080" y="1371600"/>
            <a:ext cx="10881360" cy="4892040"/>
          </a:xfrm>
          <a:prstGeom prst="roundRect">
            <a:avLst>
              <a:gd name="adj" fmla="val 2243"/>
            </a:avLst>
          </a:prstGeom>
          <a:solidFill>
            <a:srgbClr val="F4FAF9"/>
          </a:solidFill>
          <a:ln/>
          <a:effectLst>
            <a:outerShdw sx="100000" sy="100000" kx="0" ky="0" algn="bl" rotWithShape="0" blurRad="101600" dist="38100" dir="5400000">
              <a:srgbClr val="808080">
                <a:alpha val="20000"/>
              </a:srgbClr>
            </a:outerShdw>
          </a:effectLst>
        </p:spPr>
      </p:sp>
      <p:sp>
        <p:nvSpPr>
          <p:cNvPr id="4" name="Text 2"/>
          <p:cNvSpPr/>
          <p:nvPr/>
        </p:nvSpPr>
        <p:spPr>
          <a:xfrm>
            <a:off x="1005840" y="1691640"/>
            <a:ext cx="10149840" cy="4297680"/>
          </a:xfrm>
          <a:prstGeom prst="rect">
            <a:avLst/>
          </a:prstGeom>
          <a:noFill/>
          <a:ln/>
        </p:spPr>
        <p:txBody>
          <a:bodyPr wrap="square" rtlCol="0" anchor="t"/>
          <a:lstStyle/>
          <a:p>
            <a:pPr algn="l" indent="0" marL="0">
              <a:lnSpc>
                <a:spcPct val="125000"/>
              </a:lnSpc>
              <a:buNone/>
            </a:pPr>
            <a:r>
              <a:rPr lang="en-US" sz="1500" dirty="0">
                <a:solidFill>
                  <a:srgbClr val="0B2E33"/>
                </a:solidFill>
                <a:latin typeface="Calibri" pitchFamily="34" charset="0"/>
                <a:ea typeface="Calibri" pitchFamily="34" charset="-122"/>
                <a:cs typeface="Calibri" pitchFamily="34" charset="-120"/>
              </a:rPr>
              <a:t>Organizations across sectors receive a continuous stream of customer complaints through calls, emails, forms, and walk-ins, and handling this volume manually leads to lost records, delayed resolutions, and inconsistent service quality. The Complaint Tracker is a relational database application designed to capture, classify, assign, and monitor customer complaints from submission through resolution. The system logs complaint details, links them to customers, categories, and support staff, and maintains a status history so that every complaint can be traced at any point in its lifecycle. Structured Query Language operations support fast retrieval, filtering by status, category, or priority, and generation of summary reports for management review. By centralizing complaint data in a normalized schema, the system reduces duplication, enforces accountability through staff assignment, and shortens resolution time. The result is a reliable, scalable foundation that helps organizations convert complaint handling from a reactive burden into a measurable, continuously improving service process.</a:t>
            </a:r>
            <a:endParaRPr lang="en-US" sz="1500" dirty="0"/>
          </a:p>
        </p:txBody>
      </p:sp>
      <p:sp>
        <p:nvSpPr>
          <p:cNvPr id="5" name="Text 3"/>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6" name="Text 4"/>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640080" y="1097280"/>
            <a:ext cx="9144000" cy="365760"/>
          </a:xfrm>
          <a:prstGeom prst="rect">
            <a:avLst/>
          </a:prstGeom>
          <a:noFill/>
          <a:ln/>
        </p:spPr>
        <p:txBody>
          <a:bodyPr wrap="square" rtlCol="0" anchor="ctr"/>
          <a:lstStyle/>
          <a:p>
            <a:pPr indent="0" marL="0">
              <a:buNone/>
            </a:pPr>
            <a:r>
              <a:rPr lang="en-US" sz="1400" i="1" dirty="0">
                <a:solidFill>
                  <a:srgbClr val="5A7A7E"/>
                </a:solidFill>
                <a:latin typeface="Calibri" pitchFamily="34" charset="0"/>
                <a:ea typeface="Calibri" pitchFamily="34" charset="-122"/>
                <a:cs typeface="Calibri" pitchFamily="34" charset="-120"/>
              </a:rPr>
              <a:t>Why manual complaint handling breaks down at scale</a:t>
            </a:r>
            <a:endParaRPr lang="en-US" sz="1400" dirty="0"/>
          </a:p>
        </p:txBody>
      </p:sp>
      <p:sp>
        <p:nvSpPr>
          <p:cNvPr id="4" name="Shape 2"/>
          <p:cNvSpPr/>
          <p:nvPr/>
        </p:nvSpPr>
        <p:spPr>
          <a:xfrm>
            <a:off x="640080" y="1783080"/>
            <a:ext cx="5257800" cy="2103120"/>
          </a:xfrm>
          <a:prstGeom prst="roundRect">
            <a:avLst>
              <a:gd name="adj" fmla="val 4348"/>
            </a:avLst>
          </a:prstGeom>
          <a:solidFill>
            <a:srgbClr val="F4FAF9"/>
          </a:solidFill>
          <a:ln/>
        </p:spPr>
      </p:sp>
      <p:sp>
        <p:nvSpPr>
          <p:cNvPr id="5" name="Shape 3"/>
          <p:cNvSpPr/>
          <p:nvPr/>
        </p:nvSpPr>
        <p:spPr>
          <a:xfrm>
            <a:off x="914400" y="2057400"/>
            <a:ext cx="822960" cy="822960"/>
          </a:xfrm>
          <a:prstGeom prst="ellipse">
            <a:avLst/>
          </a:prstGeom>
          <a:solidFill>
            <a:srgbClr val="F96167"/>
          </a:solidFill>
          <a:ln/>
        </p:spPr>
      </p:sp>
      <p:pic>
        <p:nvPicPr>
          <p:cNvPr id="6" name="Image 0" descr="/home/claude/complaint_tracker/icons/times_white.png">    </p:cNvPr>
          <p:cNvPicPr>
            <a:picLocks noChangeAspect="1"/>
          </p:cNvPicPr>
          <p:nvPr/>
        </p:nvPicPr>
        <p:blipFill>
          <a:blip r:embed="rId1"/>
          <a:stretch>
            <a:fillRect/>
          </a:stretch>
        </p:blipFill>
        <p:spPr>
          <a:xfrm>
            <a:off x="1120140" y="2263140"/>
            <a:ext cx="411480" cy="411480"/>
          </a:xfrm>
          <a:prstGeom prst="rect">
            <a:avLst/>
          </a:prstGeom>
        </p:spPr>
      </p:pic>
      <p:sp>
        <p:nvSpPr>
          <p:cNvPr id="7" name="Text 4"/>
          <p:cNvSpPr/>
          <p:nvPr/>
        </p:nvSpPr>
        <p:spPr>
          <a:xfrm>
            <a:off x="1920240" y="2075688"/>
            <a:ext cx="379476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Scattered Records</a:t>
            </a:r>
            <a:endParaRPr lang="en-US" sz="1700" dirty="0"/>
          </a:p>
        </p:txBody>
      </p:sp>
      <p:sp>
        <p:nvSpPr>
          <p:cNvPr id="8" name="Text 5"/>
          <p:cNvSpPr/>
          <p:nvPr/>
        </p:nvSpPr>
        <p:spPr>
          <a:xfrm>
            <a:off x="1005840" y="2971800"/>
            <a:ext cx="4526280" cy="777240"/>
          </a:xfrm>
          <a:prstGeom prst="rect">
            <a:avLst/>
          </a:prstGeom>
          <a:noFill/>
          <a:ln/>
        </p:spPr>
        <p:txBody>
          <a:bodyPr wrap="square" rtlCol="0" anchor="t"/>
          <a:lstStyle/>
          <a:p>
            <a:pPr indent="0" marL="0">
              <a:lnSpc>
                <a:spcPct val="115000"/>
              </a:lnSpc>
              <a:buNone/>
            </a:pPr>
            <a:r>
              <a:rPr lang="en-US" sz="1250" dirty="0">
                <a:solidFill>
                  <a:srgbClr val="5A7A7E"/>
                </a:solidFill>
                <a:latin typeface="Calibri" pitchFamily="34" charset="0"/>
                <a:ea typeface="Calibri" pitchFamily="34" charset="-122"/>
                <a:cs typeface="Calibri" pitchFamily="34" charset="-120"/>
              </a:rPr>
              <a:t>Complaints logged across spreadsheets, emails, and paper forms with no single source of truth.</a:t>
            </a:r>
            <a:endParaRPr lang="en-US" sz="1250" dirty="0"/>
          </a:p>
        </p:txBody>
      </p:sp>
      <p:sp>
        <p:nvSpPr>
          <p:cNvPr id="9" name="Shape 6"/>
          <p:cNvSpPr/>
          <p:nvPr/>
        </p:nvSpPr>
        <p:spPr>
          <a:xfrm>
            <a:off x="6263640" y="1783080"/>
            <a:ext cx="5257800" cy="2103120"/>
          </a:xfrm>
          <a:prstGeom prst="roundRect">
            <a:avLst>
              <a:gd name="adj" fmla="val 4348"/>
            </a:avLst>
          </a:prstGeom>
          <a:solidFill>
            <a:srgbClr val="F4FAF9"/>
          </a:solidFill>
          <a:ln/>
        </p:spPr>
      </p:sp>
      <p:sp>
        <p:nvSpPr>
          <p:cNvPr id="10" name="Shape 7"/>
          <p:cNvSpPr/>
          <p:nvPr/>
        </p:nvSpPr>
        <p:spPr>
          <a:xfrm>
            <a:off x="6537960" y="2057400"/>
            <a:ext cx="822960" cy="822960"/>
          </a:xfrm>
          <a:prstGeom prst="ellipse">
            <a:avLst/>
          </a:prstGeom>
          <a:solidFill>
            <a:srgbClr val="F96167"/>
          </a:solidFill>
          <a:ln/>
        </p:spPr>
      </p:sp>
      <p:pic>
        <p:nvPicPr>
          <p:cNvPr id="11" name="Image 1" descr="/home/claude/complaint_tracker/icons/clock_white.png">    </p:cNvPr>
          <p:cNvPicPr>
            <a:picLocks noChangeAspect="1"/>
          </p:cNvPicPr>
          <p:nvPr/>
        </p:nvPicPr>
        <p:blipFill>
          <a:blip r:embed="rId2"/>
          <a:stretch>
            <a:fillRect/>
          </a:stretch>
        </p:blipFill>
        <p:spPr>
          <a:xfrm>
            <a:off x="6743700" y="2263140"/>
            <a:ext cx="411480" cy="411480"/>
          </a:xfrm>
          <a:prstGeom prst="rect">
            <a:avLst/>
          </a:prstGeom>
        </p:spPr>
      </p:pic>
      <p:sp>
        <p:nvSpPr>
          <p:cNvPr id="12" name="Text 8"/>
          <p:cNvSpPr/>
          <p:nvPr/>
        </p:nvSpPr>
        <p:spPr>
          <a:xfrm>
            <a:off x="7543800" y="2075688"/>
            <a:ext cx="379476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Slow Resolution</a:t>
            </a:r>
            <a:endParaRPr lang="en-US" sz="1700" dirty="0"/>
          </a:p>
        </p:txBody>
      </p:sp>
      <p:sp>
        <p:nvSpPr>
          <p:cNvPr id="13" name="Text 9"/>
          <p:cNvSpPr/>
          <p:nvPr/>
        </p:nvSpPr>
        <p:spPr>
          <a:xfrm>
            <a:off x="6629400" y="2971800"/>
            <a:ext cx="4526280" cy="777240"/>
          </a:xfrm>
          <a:prstGeom prst="rect">
            <a:avLst/>
          </a:prstGeom>
          <a:noFill/>
          <a:ln/>
        </p:spPr>
        <p:txBody>
          <a:bodyPr wrap="square" rtlCol="0" anchor="t"/>
          <a:lstStyle/>
          <a:p>
            <a:pPr indent="0" marL="0">
              <a:lnSpc>
                <a:spcPct val="115000"/>
              </a:lnSpc>
              <a:buNone/>
            </a:pPr>
            <a:r>
              <a:rPr lang="en-US" sz="1250" dirty="0">
                <a:solidFill>
                  <a:srgbClr val="5A7A7E"/>
                </a:solidFill>
                <a:latin typeface="Calibri" pitchFamily="34" charset="0"/>
                <a:ea typeface="Calibri" pitchFamily="34" charset="-122"/>
                <a:cs typeface="Calibri" pitchFamily="34" charset="-120"/>
              </a:rPr>
              <a:t>No tracking of status or ownership means complaints stall with no one accountable for follow-up.</a:t>
            </a:r>
            <a:endParaRPr lang="en-US" sz="1250" dirty="0"/>
          </a:p>
        </p:txBody>
      </p:sp>
      <p:sp>
        <p:nvSpPr>
          <p:cNvPr id="14" name="Shape 10"/>
          <p:cNvSpPr/>
          <p:nvPr/>
        </p:nvSpPr>
        <p:spPr>
          <a:xfrm>
            <a:off x="640080" y="4206240"/>
            <a:ext cx="5257800" cy="2103120"/>
          </a:xfrm>
          <a:prstGeom prst="roundRect">
            <a:avLst>
              <a:gd name="adj" fmla="val 4348"/>
            </a:avLst>
          </a:prstGeom>
          <a:solidFill>
            <a:srgbClr val="F4FAF9"/>
          </a:solidFill>
          <a:ln/>
        </p:spPr>
      </p:sp>
      <p:sp>
        <p:nvSpPr>
          <p:cNvPr id="15" name="Shape 11"/>
          <p:cNvSpPr/>
          <p:nvPr/>
        </p:nvSpPr>
        <p:spPr>
          <a:xfrm>
            <a:off x="914400" y="4480560"/>
            <a:ext cx="822960" cy="822960"/>
          </a:xfrm>
          <a:prstGeom prst="ellipse">
            <a:avLst/>
          </a:prstGeom>
          <a:solidFill>
            <a:srgbClr val="F96167"/>
          </a:solidFill>
          <a:ln/>
        </p:spPr>
      </p:sp>
      <p:pic>
        <p:nvPicPr>
          <p:cNvPr id="16" name="Image 2" descr="/home/claude/complaint_tracker/icons/warning_white.png">    </p:cNvPr>
          <p:cNvPicPr>
            <a:picLocks noChangeAspect="1"/>
          </p:cNvPicPr>
          <p:nvPr/>
        </p:nvPicPr>
        <p:blipFill>
          <a:blip r:embed="rId3"/>
          <a:stretch>
            <a:fillRect/>
          </a:stretch>
        </p:blipFill>
        <p:spPr>
          <a:xfrm>
            <a:off x="1120140" y="4686300"/>
            <a:ext cx="411480" cy="411480"/>
          </a:xfrm>
          <a:prstGeom prst="rect">
            <a:avLst/>
          </a:prstGeom>
        </p:spPr>
      </p:pic>
      <p:sp>
        <p:nvSpPr>
          <p:cNvPr id="17" name="Text 12"/>
          <p:cNvSpPr/>
          <p:nvPr/>
        </p:nvSpPr>
        <p:spPr>
          <a:xfrm>
            <a:off x="1920240" y="4498848"/>
            <a:ext cx="379476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Lost Complaints</a:t>
            </a:r>
            <a:endParaRPr lang="en-US" sz="1700" dirty="0"/>
          </a:p>
        </p:txBody>
      </p:sp>
      <p:sp>
        <p:nvSpPr>
          <p:cNvPr id="18" name="Text 13"/>
          <p:cNvSpPr/>
          <p:nvPr/>
        </p:nvSpPr>
        <p:spPr>
          <a:xfrm>
            <a:off x="1005840" y="5394960"/>
            <a:ext cx="4526280" cy="777240"/>
          </a:xfrm>
          <a:prstGeom prst="rect">
            <a:avLst/>
          </a:prstGeom>
          <a:noFill/>
          <a:ln/>
        </p:spPr>
        <p:txBody>
          <a:bodyPr wrap="square" rtlCol="0" anchor="t"/>
          <a:lstStyle/>
          <a:p>
            <a:pPr indent="0" marL="0">
              <a:lnSpc>
                <a:spcPct val="115000"/>
              </a:lnSpc>
              <a:buNone/>
            </a:pPr>
            <a:r>
              <a:rPr lang="en-US" sz="1250" dirty="0">
                <a:solidFill>
                  <a:srgbClr val="5A7A7E"/>
                </a:solidFill>
                <a:latin typeface="Calibri" pitchFamily="34" charset="0"/>
                <a:ea typeface="Calibri" pitchFamily="34" charset="-122"/>
                <a:cs typeface="Calibri" pitchFamily="34" charset="-120"/>
              </a:rPr>
              <a:t>Manual entry and duplicate reporting cause records to be misplaced or never addressed.</a:t>
            </a:r>
            <a:endParaRPr lang="en-US" sz="1250" dirty="0"/>
          </a:p>
        </p:txBody>
      </p:sp>
      <p:sp>
        <p:nvSpPr>
          <p:cNvPr id="19" name="Shape 14"/>
          <p:cNvSpPr/>
          <p:nvPr/>
        </p:nvSpPr>
        <p:spPr>
          <a:xfrm>
            <a:off x="6263640" y="4206240"/>
            <a:ext cx="5257800" cy="2103120"/>
          </a:xfrm>
          <a:prstGeom prst="roundRect">
            <a:avLst>
              <a:gd name="adj" fmla="val 4348"/>
            </a:avLst>
          </a:prstGeom>
          <a:solidFill>
            <a:srgbClr val="F4FAF9"/>
          </a:solidFill>
          <a:ln/>
        </p:spPr>
      </p:sp>
      <p:sp>
        <p:nvSpPr>
          <p:cNvPr id="20" name="Shape 15"/>
          <p:cNvSpPr/>
          <p:nvPr/>
        </p:nvSpPr>
        <p:spPr>
          <a:xfrm>
            <a:off x="6537960" y="4480560"/>
            <a:ext cx="822960" cy="822960"/>
          </a:xfrm>
          <a:prstGeom prst="ellipse">
            <a:avLst/>
          </a:prstGeom>
          <a:solidFill>
            <a:srgbClr val="F96167"/>
          </a:solidFill>
          <a:ln/>
        </p:spPr>
      </p:sp>
      <p:pic>
        <p:nvPicPr>
          <p:cNvPr id="21" name="Image 3" descr="/home/claude/complaint_tracker/icons/chartbar_white.png">    </p:cNvPr>
          <p:cNvPicPr>
            <a:picLocks noChangeAspect="1"/>
          </p:cNvPicPr>
          <p:nvPr/>
        </p:nvPicPr>
        <p:blipFill>
          <a:blip r:embed="rId4"/>
          <a:stretch>
            <a:fillRect/>
          </a:stretch>
        </p:blipFill>
        <p:spPr>
          <a:xfrm>
            <a:off x="6743700" y="4686300"/>
            <a:ext cx="411480" cy="411480"/>
          </a:xfrm>
          <a:prstGeom prst="rect">
            <a:avLst/>
          </a:prstGeom>
        </p:spPr>
      </p:pic>
      <p:sp>
        <p:nvSpPr>
          <p:cNvPr id="22" name="Text 16"/>
          <p:cNvSpPr/>
          <p:nvPr/>
        </p:nvSpPr>
        <p:spPr>
          <a:xfrm>
            <a:off x="7543800" y="4498848"/>
            <a:ext cx="3794760" cy="365760"/>
          </a:xfrm>
          <a:prstGeom prst="rect">
            <a:avLst/>
          </a:prstGeom>
          <a:noFill/>
          <a:ln/>
        </p:spPr>
        <p:txBody>
          <a:bodyPr wrap="square" rtlCol="0" anchor="ctr"/>
          <a:lstStyle/>
          <a:p>
            <a:pPr indent="0" marL="0">
              <a:buNone/>
            </a:pPr>
            <a:r>
              <a:rPr lang="en-US" sz="1700" b="1" dirty="0">
                <a:solidFill>
                  <a:srgbClr val="013A40"/>
                </a:solidFill>
                <a:latin typeface="Cambria" pitchFamily="34" charset="0"/>
                <a:ea typeface="Cambria" pitchFamily="34" charset="-122"/>
                <a:cs typeface="Cambria" pitchFamily="34" charset="-120"/>
              </a:rPr>
              <a:t>No Visibility</a:t>
            </a:r>
            <a:endParaRPr lang="en-US" sz="1700" dirty="0"/>
          </a:p>
        </p:txBody>
      </p:sp>
      <p:sp>
        <p:nvSpPr>
          <p:cNvPr id="23" name="Text 17"/>
          <p:cNvSpPr/>
          <p:nvPr/>
        </p:nvSpPr>
        <p:spPr>
          <a:xfrm>
            <a:off x="6629400" y="5394960"/>
            <a:ext cx="4526280" cy="777240"/>
          </a:xfrm>
          <a:prstGeom prst="rect">
            <a:avLst/>
          </a:prstGeom>
          <a:noFill/>
          <a:ln/>
        </p:spPr>
        <p:txBody>
          <a:bodyPr wrap="square" rtlCol="0" anchor="t"/>
          <a:lstStyle/>
          <a:p>
            <a:pPr indent="0" marL="0">
              <a:lnSpc>
                <a:spcPct val="115000"/>
              </a:lnSpc>
              <a:buNone/>
            </a:pPr>
            <a:r>
              <a:rPr lang="en-US" sz="1250" dirty="0">
                <a:solidFill>
                  <a:srgbClr val="5A7A7E"/>
                </a:solidFill>
                <a:latin typeface="Calibri" pitchFamily="34" charset="0"/>
                <a:ea typeface="Calibri" pitchFamily="34" charset="-122"/>
                <a:cs typeface="Calibri" pitchFamily="34" charset="-120"/>
              </a:rPr>
              <a:t>Management cannot see trends, repeat issues, or staff performance without a structured report.</a:t>
            </a:r>
            <a:endParaRPr lang="en-US" sz="1250" dirty="0"/>
          </a:p>
        </p:txBody>
      </p:sp>
      <p:sp>
        <p:nvSpPr>
          <p:cNvPr id="24" name="Text 18"/>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5" name="Text 19"/>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640080" y="1828800"/>
            <a:ext cx="2606040" cy="3566160"/>
          </a:xfrm>
          <a:prstGeom prst="roundRect">
            <a:avLst>
              <a:gd name="adj" fmla="val 3509"/>
            </a:avLst>
          </a:prstGeom>
          <a:solidFill>
            <a:srgbClr val="0C4A50"/>
          </a:solidFill>
          <a:ln/>
        </p:spPr>
      </p:sp>
      <p:sp>
        <p:nvSpPr>
          <p:cNvPr id="4" name="Shape 2"/>
          <p:cNvSpPr/>
          <p:nvPr/>
        </p:nvSpPr>
        <p:spPr>
          <a:xfrm>
            <a:off x="1485900" y="2148840"/>
            <a:ext cx="914400" cy="914400"/>
          </a:xfrm>
          <a:prstGeom prst="ellipse">
            <a:avLst/>
          </a:prstGeom>
          <a:solidFill>
            <a:srgbClr val="02C39A"/>
          </a:solidFill>
          <a:ln/>
        </p:spPr>
      </p:sp>
      <p:pic>
        <p:nvPicPr>
          <p:cNvPr id="5" name="Image 0" descr="/home/claude/complaint_tracker/icons/database_dark.png">    </p:cNvPr>
          <p:cNvPicPr>
            <a:picLocks noChangeAspect="1"/>
          </p:cNvPicPr>
          <p:nvPr/>
        </p:nvPicPr>
        <p:blipFill>
          <a:blip r:embed="rId1"/>
          <a:stretch>
            <a:fillRect/>
          </a:stretch>
        </p:blipFill>
        <p:spPr>
          <a:xfrm>
            <a:off x="1714500" y="2377440"/>
            <a:ext cx="457200" cy="457200"/>
          </a:xfrm>
          <a:prstGeom prst="rect">
            <a:avLst/>
          </a:prstGeom>
        </p:spPr>
      </p:pic>
      <p:sp>
        <p:nvSpPr>
          <p:cNvPr id="6" name="Text 3"/>
          <p:cNvSpPr/>
          <p:nvPr/>
        </p:nvSpPr>
        <p:spPr>
          <a:xfrm>
            <a:off x="822960" y="3246120"/>
            <a:ext cx="2240280" cy="594360"/>
          </a:xfrm>
          <a:prstGeom prst="rect">
            <a:avLst/>
          </a:prstGeom>
          <a:noFill/>
          <a:ln/>
        </p:spPr>
        <p:txBody>
          <a:bodyPr wrap="square" rtlCol="0" anchor="t"/>
          <a:lstStyle/>
          <a:p>
            <a:pPr algn="ctr" indent="0" marL="0">
              <a:buNone/>
            </a:pPr>
            <a:r>
              <a:rPr lang="en-US" sz="1550" b="1" dirty="0">
                <a:solidFill>
                  <a:srgbClr val="FFFFFF"/>
                </a:solidFill>
                <a:latin typeface="Cambria" pitchFamily="34" charset="0"/>
                <a:ea typeface="Cambria" pitchFamily="34" charset="-122"/>
                <a:cs typeface="Cambria" pitchFamily="34" charset="-120"/>
              </a:rPr>
              <a:t>Centralize Data</a:t>
            </a:r>
            <a:endParaRPr lang="en-US" sz="1550" dirty="0"/>
          </a:p>
        </p:txBody>
      </p:sp>
      <p:sp>
        <p:nvSpPr>
          <p:cNvPr id="7" name="Text 4"/>
          <p:cNvSpPr/>
          <p:nvPr/>
        </p:nvSpPr>
        <p:spPr>
          <a:xfrm>
            <a:off x="868680" y="3886200"/>
            <a:ext cx="2148840" cy="1371600"/>
          </a:xfrm>
          <a:prstGeom prst="rect">
            <a:avLst/>
          </a:prstGeom>
          <a:noFill/>
          <a:ln/>
        </p:spPr>
        <p:txBody>
          <a:bodyPr wrap="square" rtlCol="0" anchor="t"/>
          <a:lstStyle/>
          <a:p>
            <a:pPr algn="ctr" indent="0" marL="0">
              <a:lnSpc>
                <a:spcPct val="120000"/>
              </a:lnSpc>
              <a:buNone/>
            </a:pPr>
            <a:r>
              <a:rPr lang="en-US" sz="1200" dirty="0">
                <a:solidFill>
                  <a:srgbClr val="CFEDEA"/>
                </a:solidFill>
                <a:latin typeface="Calibri" pitchFamily="34" charset="0"/>
                <a:ea typeface="Calibri" pitchFamily="34" charset="-122"/>
                <a:cs typeface="Calibri" pitchFamily="34" charset="-120"/>
              </a:rPr>
              <a:t>Store all complaint records in one normalized relational database.</a:t>
            </a:r>
            <a:endParaRPr lang="en-US" sz="1200" dirty="0"/>
          </a:p>
        </p:txBody>
      </p:sp>
      <p:sp>
        <p:nvSpPr>
          <p:cNvPr id="8" name="Shape 5"/>
          <p:cNvSpPr/>
          <p:nvPr/>
        </p:nvSpPr>
        <p:spPr>
          <a:xfrm>
            <a:off x="3502152" y="1828800"/>
            <a:ext cx="2606040" cy="3566160"/>
          </a:xfrm>
          <a:prstGeom prst="roundRect">
            <a:avLst>
              <a:gd name="adj" fmla="val 3509"/>
            </a:avLst>
          </a:prstGeom>
          <a:solidFill>
            <a:srgbClr val="0C4A50"/>
          </a:solidFill>
          <a:ln/>
        </p:spPr>
      </p:sp>
      <p:sp>
        <p:nvSpPr>
          <p:cNvPr id="9" name="Shape 6"/>
          <p:cNvSpPr/>
          <p:nvPr/>
        </p:nvSpPr>
        <p:spPr>
          <a:xfrm>
            <a:off x="4347972" y="2148840"/>
            <a:ext cx="914400" cy="914400"/>
          </a:xfrm>
          <a:prstGeom prst="ellipse">
            <a:avLst/>
          </a:prstGeom>
          <a:solidFill>
            <a:srgbClr val="02C39A"/>
          </a:solidFill>
          <a:ln/>
        </p:spPr>
      </p:sp>
      <p:pic>
        <p:nvPicPr>
          <p:cNvPr id="10" name="Image 1" descr="/home/claude/complaint_tracker/icons/search_dark.png">    </p:cNvPr>
          <p:cNvPicPr>
            <a:picLocks noChangeAspect="1"/>
          </p:cNvPicPr>
          <p:nvPr/>
        </p:nvPicPr>
        <p:blipFill>
          <a:blip r:embed="rId2"/>
          <a:stretch>
            <a:fillRect/>
          </a:stretch>
        </p:blipFill>
        <p:spPr>
          <a:xfrm>
            <a:off x="4576572" y="2377440"/>
            <a:ext cx="457200" cy="457200"/>
          </a:xfrm>
          <a:prstGeom prst="rect">
            <a:avLst/>
          </a:prstGeom>
        </p:spPr>
      </p:pic>
      <p:sp>
        <p:nvSpPr>
          <p:cNvPr id="11" name="Text 7"/>
          <p:cNvSpPr/>
          <p:nvPr/>
        </p:nvSpPr>
        <p:spPr>
          <a:xfrm>
            <a:off x="3685032" y="3246120"/>
            <a:ext cx="2240280" cy="594360"/>
          </a:xfrm>
          <a:prstGeom prst="rect">
            <a:avLst/>
          </a:prstGeom>
          <a:noFill/>
          <a:ln/>
        </p:spPr>
        <p:txBody>
          <a:bodyPr wrap="square" rtlCol="0" anchor="t"/>
          <a:lstStyle/>
          <a:p>
            <a:pPr algn="ctr" indent="0" marL="0">
              <a:buNone/>
            </a:pPr>
            <a:r>
              <a:rPr lang="en-US" sz="1550" b="1" dirty="0">
                <a:solidFill>
                  <a:srgbClr val="FFFFFF"/>
                </a:solidFill>
                <a:latin typeface="Cambria" pitchFamily="34" charset="0"/>
                <a:ea typeface="Cambria" pitchFamily="34" charset="-122"/>
                <a:cs typeface="Cambria" pitchFamily="34" charset="-120"/>
              </a:rPr>
              <a:t>Enable Fast Retrieval</a:t>
            </a:r>
            <a:endParaRPr lang="en-US" sz="1550" dirty="0"/>
          </a:p>
        </p:txBody>
      </p:sp>
      <p:sp>
        <p:nvSpPr>
          <p:cNvPr id="12" name="Text 8"/>
          <p:cNvSpPr/>
          <p:nvPr/>
        </p:nvSpPr>
        <p:spPr>
          <a:xfrm>
            <a:off x="3730752" y="3886200"/>
            <a:ext cx="2148840" cy="1371600"/>
          </a:xfrm>
          <a:prstGeom prst="rect">
            <a:avLst/>
          </a:prstGeom>
          <a:noFill/>
          <a:ln/>
        </p:spPr>
        <p:txBody>
          <a:bodyPr wrap="square" rtlCol="0" anchor="t"/>
          <a:lstStyle/>
          <a:p>
            <a:pPr algn="ctr" indent="0" marL="0">
              <a:lnSpc>
                <a:spcPct val="120000"/>
              </a:lnSpc>
              <a:buNone/>
            </a:pPr>
            <a:r>
              <a:rPr lang="en-US" sz="1200" dirty="0">
                <a:solidFill>
                  <a:srgbClr val="CFEDEA"/>
                </a:solidFill>
                <a:latin typeface="Calibri" pitchFamily="34" charset="0"/>
                <a:ea typeface="Calibri" pitchFamily="34" charset="-122"/>
                <a:cs typeface="Calibri" pitchFamily="34" charset="-120"/>
              </a:rPr>
              <a:t>Support quick search and filtering by status, category, and customer.</a:t>
            </a:r>
            <a:endParaRPr lang="en-US" sz="1200" dirty="0"/>
          </a:p>
        </p:txBody>
      </p:sp>
      <p:sp>
        <p:nvSpPr>
          <p:cNvPr id="13" name="Shape 9"/>
          <p:cNvSpPr/>
          <p:nvPr/>
        </p:nvSpPr>
        <p:spPr>
          <a:xfrm>
            <a:off x="6364224" y="1828800"/>
            <a:ext cx="2606040" cy="3566160"/>
          </a:xfrm>
          <a:prstGeom prst="roundRect">
            <a:avLst>
              <a:gd name="adj" fmla="val 3509"/>
            </a:avLst>
          </a:prstGeom>
          <a:solidFill>
            <a:srgbClr val="0C4A50"/>
          </a:solidFill>
          <a:ln/>
        </p:spPr>
      </p:sp>
      <p:sp>
        <p:nvSpPr>
          <p:cNvPr id="14" name="Shape 10"/>
          <p:cNvSpPr/>
          <p:nvPr/>
        </p:nvSpPr>
        <p:spPr>
          <a:xfrm>
            <a:off x="7210044" y="2148840"/>
            <a:ext cx="914400" cy="914400"/>
          </a:xfrm>
          <a:prstGeom prst="ellipse">
            <a:avLst/>
          </a:prstGeom>
          <a:solidFill>
            <a:srgbClr val="02C39A"/>
          </a:solidFill>
          <a:ln/>
        </p:spPr>
      </p:sp>
      <p:pic>
        <p:nvPicPr>
          <p:cNvPr id="15" name="Image 2" descr="/home/claude/complaint_tracker/icons/usertie_dark.png">    </p:cNvPr>
          <p:cNvPicPr>
            <a:picLocks noChangeAspect="1"/>
          </p:cNvPicPr>
          <p:nvPr/>
        </p:nvPicPr>
        <p:blipFill>
          <a:blip r:embed="rId3"/>
          <a:stretch>
            <a:fillRect/>
          </a:stretch>
        </p:blipFill>
        <p:spPr>
          <a:xfrm>
            <a:off x="7438644" y="2377440"/>
            <a:ext cx="457200" cy="457200"/>
          </a:xfrm>
          <a:prstGeom prst="rect">
            <a:avLst/>
          </a:prstGeom>
        </p:spPr>
      </p:pic>
      <p:sp>
        <p:nvSpPr>
          <p:cNvPr id="16" name="Text 11"/>
          <p:cNvSpPr/>
          <p:nvPr/>
        </p:nvSpPr>
        <p:spPr>
          <a:xfrm>
            <a:off x="6547104" y="3246120"/>
            <a:ext cx="2240280" cy="594360"/>
          </a:xfrm>
          <a:prstGeom prst="rect">
            <a:avLst/>
          </a:prstGeom>
          <a:noFill/>
          <a:ln/>
        </p:spPr>
        <p:txBody>
          <a:bodyPr wrap="square" rtlCol="0" anchor="t"/>
          <a:lstStyle/>
          <a:p>
            <a:pPr algn="ctr" indent="0" marL="0">
              <a:buNone/>
            </a:pPr>
            <a:r>
              <a:rPr lang="en-US" sz="1550" b="1" dirty="0">
                <a:solidFill>
                  <a:srgbClr val="FFFFFF"/>
                </a:solidFill>
                <a:latin typeface="Cambria" pitchFamily="34" charset="0"/>
                <a:ea typeface="Cambria" pitchFamily="34" charset="-122"/>
                <a:cs typeface="Cambria" pitchFamily="34" charset="-120"/>
              </a:rPr>
              <a:t>Assign Accountability</a:t>
            </a:r>
            <a:endParaRPr lang="en-US" sz="1550" dirty="0"/>
          </a:p>
        </p:txBody>
      </p:sp>
      <p:sp>
        <p:nvSpPr>
          <p:cNvPr id="17" name="Text 12"/>
          <p:cNvSpPr/>
          <p:nvPr/>
        </p:nvSpPr>
        <p:spPr>
          <a:xfrm>
            <a:off x="6592824" y="3886200"/>
            <a:ext cx="2148840" cy="1371600"/>
          </a:xfrm>
          <a:prstGeom prst="rect">
            <a:avLst/>
          </a:prstGeom>
          <a:noFill/>
          <a:ln/>
        </p:spPr>
        <p:txBody>
          <a:bodyPr wrap="square" rtlCol="0" anchor="t"/>
          <a:lstStyle/>
          <a:p>
            <a:pPr algn="ctr" indent="0" marL="0">
              <a:lnSpc>
                <a:spcPct val="120000"/>
              </a:lnSpc>
              <a:buNone/>
            </a:pPr>
            <a:r>
              <a:rPr lang="en-US" sz="1200" dirty="0">
                <a:solidFill>
                  <a:srgbClr val="CFEDEA"/>
                </a:solidFill>
                <a:latin typeface="Calibri" pitchFamily="34" charset="0"/>
                <a:ea typeface="Calibri" pitchFamily="34" charset="-122"/>
                <a:cs typeface="Calibri" pitchFamily="34" charset="-120"/>
              </a:rPr>
              <a:t>Route each complaint to a responsible staff member automatically.</a:t>
            </a:r>
            <a:endParaRPr lang="en-US" sz="1200" dirty="0"/>
          </a:p>
        </p:txBody>
      </p:sp>
      <p:sp>
        <p:nvSpPr>
          <p:cNvPr id="18" name="Shape 13"/>
          <p:cNvSpPr/>
          <p:nvPr/>
        </p:nvSpPr>
        <p:spPr>
          <a:xfrm>
            <a:off x="9226296" y="1828800"/>
            <a:ext cx="2606040" cy="3566160"/>
          </a:xfrm>
          <a:prstGeom prst="roundRect">
            <a:avLst>
              <a:gd name="adj" fmla="val 3509"/>
            </a:avLst>
          </a:prstGeom>
          <a:solidFill>
            <a:srgbClr val="0C4A50"/>
          </a:solidFill>
          <a:ln/>
        </p:spPr>
      </p:sp>
      <p:sp>
        <p:nvSpPr>
          <p:cNvPr id="19" name="Shape 14"/>
          <p:cNvSpPr/>
          <p:nvPr/>
        </p:nvSpPr>
        <p:spPr>
          <a:xfrm>
            <a:off x="10072116" y="2148840"/>
            <a:ext cx="914400" cy="914400"/>
          </a:xfrm>
          <a:prstGeom prst="ellipse">
            <a:avLst/>
          </a:prstGeom>
          <a:solidFill>
            <a:srgbClr val="02C39A"/>
          </a:solidFill>
          <a:ln/>
        </p:spPr>
      </p:sp>
      <p:pic>
        <p:nvPicPr>
          <p:cNvPr id="20" name="Image 3" descr="/home/claude/complaint_tracker/icons/chart_dark.png">    </p:cNvPr>
          <p:cNvPicPr>
            <a:picLocks noChangeAspect="1"/>
          </p:cNvPicPr>
          <p:nvPr/>
        </p:nvPicPr>
        <p:blipFill>
          <a:blip r:embed="rId4"/>
          <a:stretch>
            <a:fillRect/>
          </a:stretch>
        </p:blipFill>
        <p:spPr>
          <a:xfrm>
            <a:off x="10300716" y="2377440"/>
            <a:ext cx="457200" cy="457200"/>
          </a:xfrm>
          <a:prstGeom prst="rect">
            <a:avLst/>
          </a:prstGeom>
        </p:spPr>
      </p:pic>
      <p:sp>
        <p:nvSpPr>
          <p:cNvPr id="21" name="Text 15"/>
          <p:cNvSpPr/>
          <p:nvPr/>
        </p:nvSpPr>
        <p:spPr>
          <a:xfrm>
            <a:off x="9409176" y="3246120"/>
            <a:ext cx="2240280" cy="594360"/>
          </a:xfrm>
          <a:prstGeom prst="rect">
            <a:avLst/>
          </a:prstGeom>
          <a:noFill/>
          <a:ln/>
        </p:spPr>
        <p:txBody>
          <a:bodyPr wrap="square" rtlCol="0" anchor="t"/>
          <a:lstStyle/>
          <a:p>
            <a:pPr algn="ctr" indent="0" marL="0">
              <a:buNone/>
            </a:pPr>
            <a:r>
              <a:rPr lang="en-US" sz="1550" b="1" dirty="0">
                <a:solidFill>
                  <a:srgbClr val="FFFFFF"/>
                </a:solidFill>
                <a:latin typeface="Cambria" pitchFamily="34" charset="0"/>
                <a:ea typeface="Cambria" pitchFamily="34" charset="-122"/>
                <a:cs typeface="Cambria" pitchFamily="34" charset="-120"/>
              </a:rPr>
              <a:t>Track Performance</a:t>
            </a:r>
            <a:endParaRPr lang="en-US" sz="1550" dirty="0"/>
          </a:p>
        </p:txBody>
      </p:sp>
      <p:sp>
        <p:nvSpPr>
          <p:cNvPr id="22" name="Text 16"/>
          <p:cNvSpPr/>
          <p:nvPr/>
        </p:nvSpPr>
        <p:spPr>
          <a:xfrm>
            <a:off x="9454896" y="3886200"/>
            <a:ext cx="2148840" cy="1371600"/>
          </a:xfrm>
          <a:prstGeom prst="rect">
            <a:avLst/>
          </a:prstGeom>
          <a:noFill/>
          <a:ln/>
        </p:spPr>
        <p:txBody>
          <a:bodyPr wrap="square" rtlCol="0" anchor="t"/>
          <a:lstStyle/>
          <a:p>
            <a:pPr algn="ctr" indent="0" marL="0">
              <a:lnSpc>
                <a:spcPct val="120000"/>
              </a:lnSpc>
              <a:buNone/>
            </a:pPr>
            <a:r>
              <a:rPr lang="en-US" sz="1200" dirty="0">
                <a:solidFill>
                  <a:srgbClr val="CFEDEA"/>
                </a:solidFill>
                <a:latin typeface="Calibri" pitchFamily="34" charset="0"/>
                <a:ea typeface="Calibri" pitchFamily="34" charset="-122"/>
                <a:cs typeface="Calibri" pitchFamily="34" charset="-120"/>
              </a:rPr>
              <a:t>Generate reports on resolution time and recurring issue trends.</a:t>
            </a:r>
            <a:endParaRPr lang="en-US" sz="1200" dirty="0"/>
          </a:p>
        </p:txBody>
      </p:sp>
      <p:sp>
        <p:nvSpPr>
          <p:cNvPr id="23" name="Text 17"/>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4" name="Text 18"/>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Existing vs. Proposed System</a:t>
            </a:r>
            <a:endParaRPr lang="en-US" sz="3200" dirty="0"/>
          </a:p>
        </p:txBody>
      </p:sp>
      <p:sp>
        <p:nvSpPr>
          <p:cNvPr id="3" name="Shape 1"/>
          <p:cNvSpPr/>
          <p:nvPr/>
        </p:nvSpPr>
        <p:spPr>
          <a:xfrm>
            <a:off x="640080" y="1463040"/>
            <a:ext cx="5257800" cy="4709160"/>
          </a:xfrm>
          <a:prstGeom prst="roundRect">
            <a:avLst>
              <a:gd name="adj" fmla="val 2330"/>
            </a:avLst>
          </a:prstGeom>
          <a:solidFill>
            <a:srgbClr val="FCEEED"/>
          </a:solidFill>
          <a:ln/>
        </p:spPr>
      </p:sp>
      <p:sp>
        <p:nvSpPr>
          <p:cNvPr id="4" name="Shape 2"/>
          <p:cNvSpPr/>
          <p:nvPr/>
        </p:nvSpPr>
        <p:spPr>
          <a:xfrm>
            <a:off x="6263640" y="1463040"/>
            <a:ext cx="5257800" cy="4709160"/>
          </a:xfrm>
          <a:prstGeom prst="roundRect">
            <a:avLst>
              <a:gd name="adj" fmla="val 2330"/>
            </a:avLst>
          </a:prstGeom>
          <a:solidFill>
            <a:srgbClr val="E4F7F2"/>
          </a:solidFill>
          <a:ln/>
        </p:spPr>
      </p:sp>
      <p:sp>
        <p:nvSpPr>
          <p:cNvPr id="5" name="Shape 3"/>
          <p:cNvSpPr/>
          <p:nvPr/>
        </p:nvSpPr>
        <p:spPr>
          <a:xfrm>
            <a:off x="914400" y="1691640"/>
            <a:ext cx="731520" cy="731520"/>
          </a:xfrm>
          <a:prstGeom prst="ellipse">
            <a:avLst/>
          </a:prstGeom>
          <a:solidFill>
            <a:srgbClr val="F96167"/>
          </a:solidFill>
          <a:ln/>
        </p:spPr>
      </p:sp>
      <p:pic>
        <p:nvPicPr>
          <p:cNvPr id="6" name="Image 0" descr="/home/claude/complaint_tracker/icons/times_white.png">    </p:cNvPr>
          <p:cNvPicPr>
            <a:picLocks noChangeAspect="1"/>
          </p:cNvPicPr>
          <p:nvPr/>
        </p:nvPicPr>
        <p:blipFill>
          <a:blip r:embed="rId1"/>
          <a:stretch>
            <a:fillRect/>
          </a:stretch>
        </p:blipFill>
        <p:spPr>
          <a:xfrm>
            <a:off x="1097280" y="1874520"/>
            <a:ext cx="365760" cy="365760"/>
          </a:xfrm>
          <a:prstGeom prst="rect">
            <a:avLst/>
          </a:prstGeom>
        </p:spPr>
      </p:pic>
      <p:sp>
        <p:nvSpPr>
          <p:cNvPr id="7" name="Text 4"/>
          <p:cNvSpPr/>
          <p:nvPr/>
        </p:nvSpPr>
        <p:spPr>
          <a:xfrm>
            <a:off x="960120" y="2514600"/>
            <a:ext cx="4617720" cy="411480"/>
          </a:xfrm>
          <a:prstGeom prst="rect">
            <a:avLst/>
          </a:prstGeom>
          <a:noFill/>
          <a:ln/>
        </p:spPr>
        <p:txBody>
          <a:bodyPr wrap="square" rtlCol="0" anchor="ctr"/>
          <a:lstStyle/>
          <a:p>
            <a:pPr algn="ctr" indent="0" marL="0">
              <a:buNone/>
            </a:pPr>
            <a:r>
              <a:rPr lang="en-US" sz="1700" b="1" dirty="0">
                <a:solidFill>
                  <a:srgbClr val="8B2E2E"/>
                </a:solidFill>
                <a:latin typeface="Cambria" pitchFamily="34" charset="0"/>
                <a:ea typeface="Cambria" pitchFamily="34" charset="-122"/>
                <a:cs typeface="Cambria" pitchFamily="34" charset="-120"/>
              </a:rPr>
              <a:t>Existing (Manual) System</a:t>
            </a:r>
            <a:endParaRPr lang="en-US" sz="1700" dirty="0"/>
          </a:p>
        </p:txBody>
      </p:sp>
      <p:sp>
        <p:nvSpPr>
          <p:cNvPr id="8" name="Shape 5"/>
          <p:cNvSpPr/>
          <p:nvPr/>
        </p:nvSpPr>
        <p:spPr>
          <a:xfrm>
            <a:off x="6537960" y="1691640"/>
            <a:ext cx="731520" cy="731520"/>
          </a:xfrm>
          <a:prstGeom prst="ellipse">
            <a:avLst/>
          </a:prstGeom>
          <a:solidFill>
            <a:srgbClr val="00A896"/>
          </a:solidFill>
          <a:ln/>
        </p:spPr>
      </p:sp>
      <p:pic>
        <p:nvPicPr>
          <p:cNvPr id="9" name="Image 1" descr="/home/claude/complaint_tracker/icons/check_white.png">    </p:cNvPr>
          <p:cNvPicPr>
            <a:picLocks noChangeAspect="1"/>
          </p:cNvPicPr>
          <p:nvPr/>
        </p:nvPicPr>
        <p:blipFill>
          <a:blip r:embed="rId2"/>
          <a:stretch>
            <a:fillRect/>
          </a:stretch>
        </p:blipFill>
        <p:spPr>
          <a:xfrm>
            <a:off x="6720840" y="1874520"/>
            <a:ext cx="365760" cy="365760"/>
          </a:xfrm>
          <a:prstGeom prst="rect">
            <a:avLst/>
          </a:prstGeom>
        </p:spPr>
      </p:pic>
      <p:sp>
        <p:nvSpPr>
          <p:cNvPr id="10" name="Text 6"/>
          <p:cNvSpPr/>
          <p:nvPr/>
        </p:nvSpPr>
        <p:spPr>
          <a:xfrm>
            <a:off x="6583680" y="2514600"/>
            <a:ext cx="4617720" cy="411480"/>
          </a:xfrm>
          <a:prstGeom prst="rect">
            <a:avLst/>
          </a:prstGeom>
          <a:noFill/>
          <a:ln/>
        </p:spPr>
        <p:txBody>
          <a:bodyPr wrap="square" rtlCol="0" anchor="ctr"/>
          <a:lstStyle/>
          <a:p>
            <a:pPr algn="ctr" indent="0" marL="0">
              <a:buNone/>
            </a:pPr>
            <a:r>
              <a:rPr lang="en-US" sz="1700" b="1" dirty="0">
                <a:solidFill>
                  <a:srgbClr val="013A40"/>
                </a:solidFill>
                <a:latin typeface="Cambria" pitchFamily="34" charset="0"/>
                <a:ea typeface="Cambria" pitchFamily="34" charset="-122"/>
                <a:cs typeface="Cambria" pitchFamily="34" charset="-120"/>
              </a:rPr>
              <a:t>Proposed (Complaint Tracker)</a:t>
            </a:r>
            <a:endParaRPr lang="en-US" sz="1700" dirty="0"/>
          </a:p>
        </p:txBody>
      </p:sp>
      <p:sp>
        <p:nvSpPr>
          <p:cNvPr id="11" name="Text 7"/>
          <p:cNvSpPr/>
          <p:nvPr/>
        </p:nvSpPr>
        <p:spPr>
          <a:xfrm>
            <a:off x="1005840" y="3154680"/>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6B3A3A"/>
                </a:solidFill>
                <a:latin typeface="Calibri" pitchFamily="34" charset="0"/>
                <a:ea typeface="Calibri" pitchFamily="34" charset="-122"/>
                <a:cs typeface="Calibri" pitchFamily="34" charset="-120"/>
              </a:rPr>
              <a:t>Complaints tracked in spreadsheets or paper logs</a:t>
            </a:r>
            <a:endParaRPr lang="en-US" sz="1300" dirty="0"/>
          </a:p>
        </p:txBody>
      </p:sp>
      <p:sp>
        <p:nvSpPr>
          <p:cNvPr id="12" name="Text 8"/>
          <p:cNvSpPr/>
          <p:nvPr/>
        </p:nvSpPr>
        <p:spPr>
          <a:xfrm>
            <a:off x="1005840" y="3813048"/>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6B3A3A"/>
                </a:solidFill>
                <a:latin typeface="Calibri" pitchFamily="34" charset="0"/>
                <a:ea typeface="Calibri" pitchFamily="34" charset="-122"/>
                <a:cs typeface="Calibri" pitchFamily="34" charset="-120"/>
              </a:rPr>
              <a:t>No linkage between customer and complaint history</a:t>
            </a:r>
            <a:endParaRPr lang="en-US" sz="1300" dirty="0"/>
          </a:p>
        </p:txBody>
      </p:sp>
      <p:sp>
        <p:nvSpPr>
          <p:cNvPr id="13" name="Text 9"/>
          <p:cNvSpPr/>
          <p:nvPr/>
        </p:nvSpPr>
        <p:spPr>
          <a:xfrm>
            <a:off x="1005840" y="4471416"/>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6B3A3A"/>
                </a:solidFill>
                <a:latin typeface="Calibri" pitchFamily="34" charset="0"/>
                <a:ea typeface="Calibri" pitchFamily="34" charset="-122"/>
                <a:cs typeface="Calibri" pitchFamily="34" charset="-120"/>
              </a:rPr>
              <a:t>Manual status updates, easy to forget or lose</a:t>
            </a:r>
            <a:endParaRPr lang="en-US" sz="1300" dirty="0"/>
          </a:p>
        </p:txBody>
      </p:sp>
      <p:sp>
        <p:nvSpPr>
          <p:cNvPr id="14" name="Text 10"/>
          <p:cNvSpPr/>
          <p:nvPr/>
        </p:nvSpPr>
        <p:spPr>
          <a:xfrm>
            <a:off x="1005840" y="5129784"/>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6B3A3A"/>
                </a:solidFill>
                <a:latin typeface="Calibri" pitchFamily="34" charset="0"/>
                <a:ea typeface="Calibri" pitchFamily="34" charset="-122"/>
                <a:cs typeface="Calibri" pitchFamily="34" charset="-120"/>
              </a:rPr>
              <a:t>Reports compiled by hand, slow and error-prone</a:t>
            </a:r>
            <a:endParaRPr lang="en-US" sz="1300" dirty="0"/>
          </a:p>
        </p:txBody>
      </p:sp>
      <p:sp>
        <p:nvSpPr>
          <p:cNvPr id="15" name="Text 11"/>
          <p:cNvSpPr/>
          <p:nvPr/>
        </p:nvSpPr>
        <p:spPr>
          <a:xfrm>
            <a:off x="6629400" y="3154680"/>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0B4A47"/>
                </a:solidFill>
                <a:latin typeface="Calibri" pitchFamily="34" charset="0"/>
                <a:ea typeface="Calibri" pitchFamily="34" charset="-122"/>
                <a:cs typeface="Calibri" pitchFamily="34" charset="-120"/>
              </a:rPr>
              <a:t>All complaints stored in a normalized database</a:t>
            </a:r>
            <a:endParaRPr lang="en-US" sz="1300" dirty="0"/>
          </a:p>
        </p:txBody>
      </p:sp>
      <p:sp>
        <p:nvSpPr>
          <p:cNvPr id="16" name="Text 12"/>
          <p:cNvSpPr/>
          <p:nvPr/>
        </p:nvSpPr>
        <p:spPr>
          <a:xfrm>
            <a:off x="6629400" y="3813048"/>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0B4A47"/>
                </a:solidFill>
                <a:latin typeface="Calibri" pitchFamily="34" charset="0"/>
                <a:ea typeface="Calibri" pitchFamily="34" charset="-122"/>
                <a:cs typeface="Calibri" pitchFamily="34" charset="-120"/>
              </a:rPr>
              <a:t>Complete customer complaint history one query away</a:t>
            </a:r>
            <a:endParaRPr lang="en-US" sz="1300" dirty="0"/>
          </a:p>
        </p:txBody>
      </p:sp>
      <p:sp>
        <p:nvSpPr>
          <p:cNvPr id="17" name="Text 13"/>
          <p:cNvSpPr/>
          <p:nvPr/>
        </p:nvSpPr>
        <p:spPr>
          <a:xfrm>
            <a:off x="6629400" y="4471416"/>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0B4A47"/>
                </a:solidFill>
                <a:latin typeface="Calibri" pitchFamily="34" charset="0"/>
                <a:ea typeface="Calibri" pitchFamily="34" charset="-122"/>
                <a:cs typeface="Calibri" pitchFamily="34" charset="-120"/>
              </a:rPr>
              <a:t>Status and staff assignment tracked automatically</a:t>
            </a:r>
            <a:endParaRPr lang="en-US" sz="1300" dirty="0"/>
          </a:p>
        </p:txBody>
      </p:sp>
      <p:sp>
        <p:nvSpPr>
          <p:cNvPr id="18" name="Text 14"/>
          <p:cNvSpPr/>
          <p:nvPr/>
        </p:nvSpPr>
        <p:spPr>
          <a:xfrm>
            <a:off x="6629400" y="5129784"/>
            <a:ext cx="4526280" cy="594360"/>
          </a:xfrm>
          <a:prstGeom prst="rect">
            <a:avLst/>
          </a:prstGeom>
          <a:noFill/>
          <a:ln/>
        </p:spPr>
        <p:txBody>
          <a:bodyPr wrap="square" rtlCol="0" anchor="t"/>
          <a:lstStyle/>
          <a:p>
            <a:pPr marL="342900" indent="-342900">
              <a:lnSpc>
                <a:spcPct val="110000"/>
              </a:lnSpc>
              <a:buSzPct val="100000"/>
              <a:buChar char="•"/>
            </a:pPr>
            <a:r>
              <a:rPr lang="en-US" sz="1300" dirty="0">
                <a:solidFill>
                  <a:srgbClr val="0B4A47"/>
                </a:solidFill>
                <a:latin typeface="Calibri" pitchFamily="34" charset="0"/>
                <a:ea typeface="Calibri" pitchFamily="34" charset="-122"/>
                <a:cs typeface="Calibri" pitchFamily="34" charset="-120"/>
              </a:rPr>
              <a:t>Instant SQL-based reports and dashboards</a:t>
            </a:r>
            <a:endParaRPr lang="en-US" sz="1300" dirty="0"/>
          </a:p>
        </p:txBody>
      </p:sp>
      <p:sp>
        <p:nvSpPr>
          <p:cNvPr id="19" name="Text 15"/>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0" name="Text 16"/>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System Architecture</a:t>
            </a:r>
            <a:endParaRPr lang="en-US" sz="3200" dirty="0"/>
          </a:p>
        </p:txBody>
      </p:sp>
      <p:sp>
        <p:nvSpPr>
          <p:cNvPr id="3" name="Text 1"/>
          <p:cNvSpPr/>
          <p:nvPr/>
        </p:nvSpPr>
        <p:spPr>
          <a:xfrm>
            <a:off x="640080" y="1097280"/>
            <a:ext cx="9144000" cy="365760"/>
          </a:xfrm>
          <a:prstGeom prst="rect">
            <a:avLst/>
          </a:prstGeom>
          <a:noFill/>
          <a:ln/>
        </p:spPr>
        <p:txBody>
          <a:bodyPr wrap="square" rtlCol="0" anchor="ctr"/>
          <a:lstStyle/>
          <a:p>
            <a:pPr indent="0" marL="0">
              <a:buNone/>
            </a:pPr>
            <a:r>
              <a:rPr lang="en-US" sz="1400" i="1" dirty="0">
                <a:solidFill>
                  <a:srgbClr val="5A7A7E"/>
                </a:solidFill>
                <a:latin typeface="Calibri" pitchFamily="34" charset="0"/>
                <a:ea typeface="Calibri" pitchFamily="34" charset="-122"/>
                <a:cs typeface="Calibri" pitchFamily="34" charset="-120"/>
              </a:rPr>
              <a:t>Three-tier design connecting users to the complaint database</a:t>
            </a:r>
            <a:endParaRPr lang="en-US" sz="1400" dirty="0"/>
          </a:p>
        </p:txBody>
      </p:sp>
      <p:sp>
        <p:nvSpPr>
          <p:cNvPr id="4" name="Shape 2"/>
          <p:cNvSpPr/>
          <p:nvPr/>
        </p:nvSpPr>
        <p:spPr>
          <a:xfrm>
            <a:off x="914400" y="1965960"/>
            <a:ext cx="3246120" cy="3246120"/>
          </a:xfrm>
          <a:prstGeom prst="roundRect">
            <a:avLst>
              <a:gd name="adj" fmla="val 2817"/>
            </a:avLst>
          </a:prstGeom>
          <a:solidFill>
            <a:srgbClr val="F4FAF9"/>
          </a:solidFill>
          <a:ln w="12700">
            <a:solidFill>
              <a:srgbClr val="028090"/>
            </a:solidFill>
            <a:prstDash val="solid"/>
          </a:ln>
        </p:spPr>
      </p:sp>
      <p:sp>
        <p:nvSpPr>
          <p:cNvPr id="5" name="Shape 3"/>
          <p:cNvSpPr/>
          <p:nvPr/>
        </p:nvSpPr>
        <p:spPr>
          <a:xfrm>
            <a:off x="2080260" y="2286000"/>
            <a:ext cx="914400" cy="914400"/>
          </a:xfrm>
          <a:prstGeom prst="ellipse">
            <a:avLst/>
          </a:prstGeom>
          <a:solidFill>
            <a:srgbClr val="028090"/>
          </a:solidFill>
          <a:ln/>
        </p:spPr>
      </p:sp>
      <p:pic>
        <p:nvPicPr>
          <p:cNvPr id="6" name="Image 0" descr="/home/claude/complaint_tracker/icons/mobile_white.png">    </p:cNvPr>
          <p:cNvPicPr>
            <a:picLocks noChangeAspect="1"/>
          </p:cNvPicPr>
          <p:nvPr/>
        </p:nvPicPr>
        <p:blipFill>
          <a:blip r:embed="rId1"/>
          <a:stretch>
            <a:fillRect/>
          </a:stretch>
        </p:blipFill>
        <p:spPr>
          <a:xfrm>
            <a:off x="2308860" y="2514600"/>
            <a:ext cx="457200" cy="457200"/>
          </a:xfrm>
          <a:prstGeom prst="rect">
            <a:avLst/>
          </a:prstGeom>
        </p:spPr>
      </p:pic>
      <p:sp>
        <p:nvSpPr>
          <p:cNvPr id="7" name="Text 4"/>
          <p:cNvSpPr/>
          <p:nvPr/>
        </p:nvSpPr>
        <p:spPr>
          <a:xfrm>
            <a:off x="1097280" y="3383280"/>
            <a:ext cx="288036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Presentation Layer</a:t>
            </a:r>
            <a:endParaRPr lang="en-US" sz="1500" dirty="0"/>
          </a:p>
        </p:txBody>
      </p:sp>
      <p:sp>
        <p:nvSpPr>
          <p:cNvPr id="8" name="Text 5"/>
          <p:cNvSpPr/>
          <p:nvPr/>
        </p:nvSpPr>
        <p:spPr>
          <a:xfrm>
            <a:off x="1188720" y="3886200"/>
            <a:ext cx="2697480" cy="1234440"/>
          </a:xfrm>
          <a:prstGeom prst="rect">
            <a:avLst/>
          </a:prstGeom>
          <a:noFill/>
          <a:ln/>
        </p:spPr>
        <p:txBody>
          <a:bodyPr wrap="square" rtlCol="0" anchor="t"/>
          <a:lstStyle/>
          <a:p>
            <a:pPr algn="ctr" indent="0" marL="0">
              <a:lnSpc>
                <a:spcPct val="120000"/>
              </a:lnSpc>
              <a:buNone/>
            </a:pPr>
            <a:r>
              <a:rPr lang="en-US" sz="1200" dirty="0">
                <a:solidFill>
                  <a:srgbClr val="5A7A7E"/>
                </a:solidFill>
                <a:latin typeface="Calibri" pitchFamily="34" charset="0"/>
                <a:ea typeface="Calibri" pitchFamily="34" charset="-122"/>
                <a:cs typeface="Calibri" pitchFamily="34" charset="-120"/>
              </a:rPr>
              <a:t>Web / desktop interface where customers submit complaints and staff manage cases.</a:t>
            </a:r>
            <a:endParaRPr lang="en-US" sz="1200" dirty="0"/>
          </a:p>
        </p:txBody>
      </p:sp>
      <p:sp>
        <p:nvSpPr>
          <p:cNvPr id="9" name="Text 6"/>
          <p:cNvSpPr/>
          <p:nvPr/>
        </p:nvSpPr>
        <p:spPr>
          <a:xfrm>
            <a:off x="4206240" y="3154680"/>
            <a:ext cx="411480" cy="548640"/>
          </a:xfrm>
          <a:prstGeom prst="rect">
            <a:avLst/>
          </a:prstGeom>
          <a:noFill/>
          <a:ln/>
        </p:spPr>
        <p:txBody>
          <a:bodyPr wrap="square" rtlCol="0" anchor="ctr"/>
          <a:lstStyle/>
          <a:p>
            <a:pPr algn="ctr" indent="0" marL="0">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4663440" y="1965960"/>
            <a:ext cx="3246120" cy="3246120"/>
          </a:xfrm>
          <a:prstGeom prst="roundRect">
            <a:avLst>
              <a:gd name="adj" fmla="val 2817"/>
            </a:avLst>
          </a:prstGeom>
          <a:solidFill>
            <a:srgbClr val="F4FAF9"/>
          </a:solidFill>
          <a:ln w="12700">
            <a:solidFill>
              <a:srgbClr val="028090"/>
            </a:solidFill>
            <a:prstDash val="solid"/>
          </a:ln>
        </p:spPr>
      </p:sp>
      <p:sp>
        <p:nvSpPr>
          <p:cNvPr id="11" name="Shape 8"/>
          <p:cNvSpPr/>
          <p:nvPr/>
        </p:nvSpPr>
        <p:spPr>
          <a:xfrm>
            <a:off x="5829300" y="2286000"/>
            <a:ext cx="914400" cy="914400"/>
          </a:xfrm>
          <a:prstGeom prst="ellipse">
            <a:avLst/>
          </a:prstGeom>
          <a:solidFill>
            <a:srgbClr val="028090"/>
          </a:solidFill>
          <a:ln/>
        </p:spPr>
      </p:sp>
      <p:pic>
        <p:nvPicPr>
          <p:cNvPr id="12" name="Image 1" descr="/home/claude/complaint_tracker/icons/cogs_white.png">    </p:cNvPr>
          <p:cNvPicPr>
            <a:picLocks noChangeAspect="1"/>
          </p:cNvPicPr>
          <p:nvPr/>
        </p:nvPicPr>
        <p:blipFill>
          <a:blip r:embed="rId2"/>
          <a:stretch>
            <a:fillRect/>
          </a:stretch>
        </p:blipFill>
        <p:spPr>
          <a:xfrm>
            <a:off x="6057900" y="2514600"/>
            <a:ext cx="457200" cy="457200"/>
          </a:xfrm>
          <a:prstGeom prst="rect">
            <a:avLst/>
          </a:prstGeom>
        </p:spPr>
      </p:pic>
      <p:sp>
        <p:nvSpPr>
          <p:cNvPr id="13" name="Text 9"/>
          <p:cNvSpPr/>
          <p:nvPr/>
        </p:nvSpPr>
        <p:spPr>
          <a:xfrm>
            <a:off x="4846320" y="3383280"/>
            <a:ext cx="288036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Application Layer</a:t>
            </a:r>
            <a:endParaRPr lang="en-US" sz="1500" dirty="0"/>
          </a:p>
        </p:txBody>
      </p:sp>
      <p:sp>
        <p:nvSpPr>
          <p:cNvPr id="14" name="Text 10"/>
          <p:cNvSpPr/>
          <p:nvPr/>
        </p:nvSpPr>
        <p:spPr>
          <a:xfrm>
            <a:off x="4937760" y="3886200"/>
            <a:ext cx="2697480" cy="1234440"/>
          </a:xfrm>
          <a:prstGeom prst="rect">
            <a:avLst/>
          </a:prstGeom>
          <a:noFill/>
          <a:ln/>
        </p:spPr>
        <p:txBody>
          <a:bodyPr wrap="square" rtlCol="0" anchor="t"/>
          <a:lstStyle/>
          <a:p>
            <a:pPr algn="ctr" indent="0" marL="0">
              <a:lnSpc>
                <a:spcPct val="120000"/>
              </a:lnSpc>
              <a:buNone/>
            </a:pPr>
            <a:r>
              <a:rPr lang="en-US" sz="1200" dirty="0">
                <a:solidFill>
                  <a:srgbClr val="5A7A7E"/>
                </a:solidFill>
                <a:latin typeface="Calibri" pitchFamily="34" charset="0"/>
                <a:ea typeface="Calibri" pitchFamily="34" charset="-122"/>
                <a:cs typeface="Calibri" pitchFamily="34" charset="-120"/>
              </a:rPr>
              <a:t>Business logic: validation, complaint routing, status workflow, and notifications.</a:t>
            </a:r>
            <a:endParaRPr lang="en-US" sz="1200" dirty="0"/>
          </a:p>
        </p:txBody>
      </p:sp>
      <p:sp>
        <p:nvSpPr>
          <p:cNvPr id="15" name="Text 11"/>
          <p:cNvSpPr/>
          <p:nvPr/>
        </p:nvSpPr>
        <p:spPr>
          <a:xfrm>
            <a:off x="7955280" y="3154680"/>
            <a:ext cx="411480" cy="548640"/>
          </a:xfrm>
          <a:prstGeom prst="rect">
            <a:avLst/>
          </a:prstGeom>
          <a:noFill/>
          <a:ln/>
        </p:spPr>
        <p:txBody>
          <a:bodyPr wrap="square" rtlCol="0" anchor="ctr"/>
          <a:lstStyle/>
          <a:p>
            <a:pPr algn="ctr" indent="0" marL="0">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16" name="Shape 12"/>
          <p:cNvSpPr/>
          <p:nvPr/>
        </p:nvSpPr>
        <p:spPr>
          <a:xfrm>
            <a:off x="8412480" y="1965960"/>
            <a:ext cx="3246120" cy="3246120"/>
          </a:xfrm>
          <a:prstGeom prst="roundRect">
            <a:avLst>
              <a:gd name="adj" fmla="val 2817"/>
            </a:avLst>
          </a:prstGeom>
          <a:solidFill>
            <a:srgbClr val="F4FAF9"/>
          </a:solidFill>
          <a:ln w="12700">
            <a:solidFill>
              <a:srgbClr val="028090"/>
            </a:solidFill>
            <a:prstDash val="solid"/>
          </a:ln>
        </p:spPr>
      </p:sp>
      <p:sp>
        <p:nvSpPr>
          <p:cNvPr id="17" name="Shape 13"/>
          <p:cNvSpPr/>
          <p:nvPr/>
        </p:nvSpPr>
        <p:spPr>
          <a:xfrm>
            <a:off x="9578340" y="2286000"/>
            <a:ext cx="914400" cy="914400"/>
          </a:xfrm>
          <a:prstGeom prst="ellipse">
            <a:avLst/>
          </a:prstGeom>
          <a:solidFill>
            <a:srgbClr val="028090"/>
          </a:solidFill>
          <a:ln/>
        </p:spPr>
      </p:sp>
      <p:pic>
        <p:nvPicPr>
          <p:cNvPr id="18" name="Image 2" descr="/home/claude/complaint_tracker/icons/database_white.png">    </p:cNvPr>
          <p:cNvPicPr>
            <a:picLocks noChangeAspect="1"/>
          </p:cNvPicPr>
          <p:nvPr/>
        </p:nvPicPr>
        <p:blipFill>
          <a:blip r:embed="rId3"/>
          <a:stretch>
            <a:fillRect/>
          </a:stretch>
        </p:blipFill>
        <p:spPr>
          <a:xfrm>
            <a:off x="9806940" y="2514600"/>
            <a:ext cx="457200" cy="457200"/>
          </a:xfrm>
          <a:prstGeom prst="rect">
            <a:avLst/>
          </a:prstGeom>
        </p:spPr>
      </p:pic>
      <p:sp>
        <p:nvSpPr>
          <p:cNvPr id="19" name="Text 14"/>
          <p:cNvSpPr/>
          <p:nvPr/>
        </p:nvSpPr>
        <p:spPr>
          <a:xfrm>
            <a:off x="8595360" y="3383280"/>
            <a:ext cx="2880360" cy="457200"/>
          </a:xfrm>
          <a:prstGeom prst="rect">
            <a:avLst/>
          </a:prstGeom>
          <a:noFill/>
          <a:ln/>
        </p:spPr>
        <p:txBody>
          <a:bodyPr wrap="square" rtlCol="0" anchor="ctr"/>
          <a:lstStyle/>
          <a:p>
            <a:pPr algn="ctr" indent="0" marL="0">
              <a:buNone/>
            </a:pPr>
            <a:r>
              <a:rPr lang="en-US" sz="1500" b="1" dirty="0">
                <a:solidFill>
                  <a:srgbClr val="013A40"/>
                </a:solidFill>
                <a:latin typeface="Cambria" pitchFamily="34" charset="0"/>
                <a:ea typeface="Cambria" pitchFamily="34" charset="-122"/>
                <a:cs typeface="Cambria" pitchFamily="34" charset="-120"/>
              </a:rPr>
              <a:t>Database Layer</a:t>
            </a:r>
            <a:endParaRPr lang="en-US" sz="1500" dirty="0"/>
          </a:p>
        </p:txBody>
      </p:sp>
      <p:sp>
        <p:nvSpPr>
          <p:cNvPr id="20" name="Text 15"/>
          <p:cNvSpPr/>
          <p:nvPr/>
        </p:nvSpPr>
        <p:spPr>
          <a:xfrm>
            <a:off x="8686800" y="3886200"/>
            <a:ext cx="2697480" cy="1234440"/>
          </a:xfrm>
          <a:prstGeom prst="rect">
            <a:avLst/>
          </a:prstGeom>
          <a:noFill/>
          <a:ln/>
        </p:spPr>
        <p:txBody>
          <a:bodyPr wrap="square" rtlCol="0" anchor="t"/>
          <a:lstStyle/>
          <a:p>
            <a:pPr algn="ctr" indent="0" marL="0">
              <a:lnSpc>
                <a:spcPct val="120000"/>
              </a:lnSpc>
              <a:buNone/>
            </a:pPr>
            <a:r>
              <a:rPr lang="en-US" sz="1200" dirty="0">
                <a:solidFill>
                  <a:srgbClr val="5A7A7E"/>
                </a:solidFill>
                <a:latin typeface="Calibri" pitchFamily="34" charset="0"/>
                <a:ea typeface="Calibri" pitchFamily="34" charset="-122"/>
                <a:cs typeface="Calibri" pitchFamily="34" charset="-120"/>
              </a:rPr>
              <a:t>Relational database storing customers, complaints, categories, staff, and status logs.</a:t>
            </a:r>
            <a:endParaRPr lang="en-US" sz="1200" dirty="0"/>
          </a:p>
        </p:txBody>
      </p:sp>
      <p:sp>
        <p:nvSpPr>
          <p:cNvPr id="21" name="Text 16"/>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2" name="Text 17"/>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640080" y="457200"/>
            <a:ext cx="8229600" cy="594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Database Design</a:t>
            </a:r>
            <a:endParaRPr lang="en-US" sz="3000" dirty="0"/>
          </a:p>
        </p:txBody>
      </p:sp>
      <p:sp>
        <p:nvSpPr>
          <p:cNvPr id="3" name="Text 1"/>
          <p:cNvSpPr/>
          <p:nvPr/>
        </p:nvSpPr>
        <p:spPr>
          <a:xfrm>
            <a:off x="640080" y="1005840"/>
            <a:ext cx="9144000" cy="365760"/>
          </a:xfrm>
          <a:prstGeom prst="rect">
            <a:avLst/>
          </a:prstGeom>
          <a:noFill/>
          <a:ln/>
        </p:spPr>
        <p:txBody>
          <a:bodyPr wrap="square" rtlCol="0" anchor="ctr"/>
          <a:lstStyle/>
          <a:p>
            <a:pPr indent="0" marL="0">
              <a:buNone/>
            </a:pPr>
            <a:r>
              <a:rPr lang="en-US" sz="1300" i="1" dirty="0">
                <a:solidFill>
                  <a:srgbClr val="02C39A"/>
                </a:solidFill>
                <a:latin typeface="Calibri" pitchFamily="34" charset="0"/>
                <a:ea typeface="Calibri" pitchFamily="34" charset="-122"/>
                <a:cs typeface="Calibri" pitchFamily="34" charset="-120"/>
              </a:rPr>
              <a:t>Core entities of the normalized schema</a:t>
            </a:r>
            <a:endParaRPr lang="en-US" sz="1300" dirty="0"/>
          </a:p>
        </p:txBody>
      </p:sp>
      <p:sp>
        <p:nvSpPr>
          <p:cNvPr id="4" name="Shape 2"/>
          <p:cNvSpPr/>
          <p:nvPr/>
        </p:nvSpPr>
        <p:spPr>
          <a:xfrm>
            <a:off x="640080" y="1600200"/>
            <a:ext cx="10881360" cy="896112"/>
          </a:xfrm>
          <a:prstGeom prst="roundRect">
            <a:avLst>
              <a:gd name="adj" fmla="val 8163"/>
            </a:avLst>
          </a:prstGeom>
          <a:solidFill>
            <a:srgbClr val="0C4A50"/>
          </a:solidFill>
          <a:ln/>
        </p:spPr>
      </p:sp>
      <p:sp>
        <p:nvSpPr>
          <p:cNvPr id="5" name="Shape 3"/>
          <p:cNvSpPr/>
          <p:nvPr/>
        </p:nvSpPr>
        <p:spPr>
          <a:xfrm>
            <a:off x="1014984" y="1737360"/>
            <a:ext cx="621792" cy="621792"/>
          </a:xfrm>
          <a:prstGeom prst="ellipse">
            <a:avLst/>
          </a:prstGeom>
          <a:solidFill>
            <a:srgbClr val="02C39A"/>
          </a:solidFill>
          <a:ln/>
        </p:spPr>
      </p:sp>
      <p:pic>
        <p:nvPicPr>
          <p:cNvPr id="6" name="Image 0" descr="/home/claude/complaint_tracker/icons/users_dark.png">    </p:cNvPr>
          <p:cNvPicPr>
            <a:picLocks noChangeAspect="1"/>
          </p:cNvPicPr>
          <p:nvPr/>
        </p:nvPicPr>
        <p:blipFill>
          <a:blip r:embed="rId1"/>
          <a:stretch>
            <a:fillRect/>
          </a:stretch>
        </p:blipFill>
        <p:spPr>
          <a:xfrm>
            <a:off x="1170432" y="1892808"/>
            <a:ext cx="310896" cy="310896"/>
          </a:xfrm>
          <a:prstGeom prst="rect">
            <a:avLst/>
          </a:prstGeom>
        </p:spPr>
      </p:pic>
      <p:sp>
        <p:nvSpPr>
          <p:cNvPr id="7" name="Text 4"/>
          <p:cNvSpPr/>
          <p:nvPr/>
        </p:nvSpPr>
        <p:spPr>
          <a:xfrm>
            <a:off x="1874520" y="1691640"/>
            <a:ext cx="2103120" cy="71323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CUSTOMER</a:t>
            </a:r>
            <a:endParaRPr lang="en-US" sz="1500" dirty="0"/>
          </a:p>
        </p:txBody>
      </p:sp>
      <p:sp>
        <p:nvSpPr>
          <p:cNvPr id="8" name="Text 5"/>
          <p:cNvSpPr/>
          <p:nvPr/>
        </p:nvSpPr>
        <p:spPr>
          <a:xfrm>
            <a:off x="4114800" y="1691640"/>
            <a:ext cx="7223760" cy="713232"/>
          </a:xfrm>
          <a:prstGeom prst="rect">
            <a:avLst/>
          </a:prstGeom>
          <a:noFill/>
          <a:ln/>
        </p:spPr>
        <p:txBody>
          <a:bodyPr wrap="square" rtlCol="0" anchor="ctr"/>
          <a:lstStyle/>
          <a:p>
            <a:pPr indent="0" marL="0">
              <a:buNone/>
            </a:pPr>
            <a:r>
              <a:rPr lang="en-US" sz="1200" dirty="0">
                <a:solidFill>
                  <a:srgbClr val="CFEDEA"/>
                </a:solidFill>
                <a:latin typeface="Calibri" pitchFamily="34" charset="0"/>
                <a:ea typeface="Calibri" pitchFamily="34" charset="-122"/>
                <a:cs typeface="Calibri" pitchFamily="34" charset="-120"/>
              </a:rPr>
              <a:t>customer_id (PK), name, email, phone, address</a:t>
            </a:r>
            <a:endParaRPr lang="en-US" sz="1200" dirty="0"/>
          </a:p>
        </p:txBody>
      </p:sp>
      <p:sp>
        <p:nvSpPr>
          <p:cNvPr id="9" name="Shape 6"/>
          <p:cNvSpPr/>
          <p:nvPr/>
        </p:nvSpPr>
        <p:spPr>
          <a:xfrm>
            <a:off x="640080" y="2551176"/>
            <a:ext cx="10881360" cy="896112"/>
          </a:xfrm>
          <a:prstGeom prst="roundRect">
            <a:avLst>
              <a:gd name="adj" fmla="val 8163"/>
            </a:avLst>
          </a:prstGeom>
          <a:solidFill>
            <a:srgbClr val="0C4A50"/>
          </a:solidFill>
          <a:ln/>
        </p:spPr>
      </p:sp>
      <p:sp>
        <p:nvSpPr>
          <p:cNvPr id="10" name="Shape 7"/>
          <p:cNvSpPr/>
          <p:nvPr/>
        </p:nvSpPr>
        <p:spPr>
          <a:xfrm>
            <a:off x="1014984" y="2688336"/>
            <a:ext cx="621792" cy="621792"/>
          </a:xfrm>
          <a:prstGeom prst="ellipse">
            <a:avLst/>
          </a:prstGeom>
          <a:solidFill>
            <a:srgbClr val="02C39A"/>
          </a:solidFill>
          <a:ln/>
        </p:spPr>
      </p:sp>
      <p:pic>
        <p:nvPicPr>
          <p:cNvPr id="11" name="Image 1" descr="/home/claude/complaint_tracker/icons/filealt_dark.png">    </p:cNvPr>
          <p:cNvPicPr>
            <a:picLocks noChangeAspect="1"/>
          </p:cNvPicPr>
          <p:nvPr/>
        </p:nvPicPr>
        <p:blipFill>
          <a:blip r:embed="rId2"/>
          <a:stretch>
            <a:fillRect/>
          </a:stretch>
        </p:blipFill>
        <p:spPr>
          <a:xfrm>
            <a:off x="1170432" y="2843784"/>
            <a:ext cx="310896" cy="310896"/>
          </a:xfrm>
          <a:prstGeom prst="rect">
            <a:avLst/>
          </a:prstGeom>
        </p:spPr>
      </p:pic>
      <p:sp>
        <p:nvSpPr>
          <p:cNvPr id="12" name="Text 8"/>
          <p:cNvSpPr/>
          <p:nvPr/>
        </p:nvSpPr>
        <p:spPr>
          <a:xfrm>
            <a:off x="1874520" y="2642616"/>
            <a:ext cx="2103120" cy="71323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COMPLAINT</a:t>
            </a:r>
            <a:endParaRPr lang="en-US" sz="1500" dirty="0"/>
          </a:p>
        </p:txBody>
      </p:sp>
      <p:sp>
        <p:nvSpPr>
          <p:cNvPr id="13" name="Text 9"/>
          <p:cNvSpPr/>
          <p:nvPr/>
        </p:nvSpPr>
        <p:spPr>
          <a:xfrm>
            <a:off x="4114800" y="2642616"/>
            <a:ext cx="7223760" cy="713232"/>
          </a:xfrm>
          <a:prstGeom prst="rect">
            <a:avLst/>
          </a:prstGeom>
          <a:noFill/>
          <a:ln/>
        </p:spPr>
        <p:txBody>
          <a:bodyPr wrap="square" rtlCol="0" anchor="ctr"/>
          <a:lstStyle/>
          <a:p>
            <a:pPr indent="0" marL="0">
              <a:buNone/>
            </a:pPr>
            <a:r>
              <a:rPr lang="en-US" sz="1200" dirty="0">
                <a:solidFill>
                  <a:srgbClr val="CFEDEA"/>
                </a:solidFill>
                <a:latin typeface="Calibri" pitchFamily="34" charset="0"/>
                <a:ea typeface="Calibri" pitchFamily="34" charset="-122"/>
                <a:cs typeface="Calibri" pitchFamily="34" charset="-120"/>
              </a:rPr>
              <a:t>complaint_id (PK), customer_id (FK), category_id (FK), description, date_filed, priority</a:t>
            </a:r>
            <a:endParaRPr lang="en-US" sz="1200" dirty="0"/>
          </a:p>
        </p:txBody>
      </p:sp>
      <p:sp>
        <p:nvSpPr>
          <p:cNvPr id="14" name="Shape 10"/>
          <p:cNvSpPr/>
          <p:nvPr/>
        </p:nvSpPr>
        <p:spPr>
          <a:xfrm>
            <a:off x="640080" y="3502152"/>
            <a:ext cx="10881360" cy="896112"/>
          </a:xfrm>
          <a:prstGeom prst="roundRect">
            <a:avLst>
              <a:gd name="adj" fmla="val 8163"/>
            </a:avLst>
          </a:prstGeom>
          <a:solidFill>
            <a:srgbClr val="0C4A50"/>
          </a:solidFill>
          <a:ln/>
        </p:spPr>
      </p:sp>
      <p:sp>
        <p:nvSpPr>
          <p:cNvPr id="15" name="Shape 11"/>
          <p:cNvSpPr/>
          <p:nvPr/>
        </p:nvSpPr>
        <p:spPr>
          <a:xfrm>
            <a:off x="1014984" y="3639312"/>
            <a:ext cx="621792" cy="621792"/>
          </a:xfrm>
          <a:prstGeom prst="ellipse">
            <a:avLst/>
          </a:prstGeom>
          <a:solidFill>
            <a:srgbClr val="02C39A"/>
          </a:solidFill>
          <a:ln/>
        </p:spPr>
      </p:sp>
      <p:pic>
        <p:nvPicPr>
          <p:cNvPr id="16" name="Image 2" descr="/home/claude/complaint_tracker/icons/tag_dark.png">    </p:cNvPr>
          <p:cNvPicPr>
            <a:picLocks noChangeAspect="1"/>
          </p:cNvPicPr>
          <p:nvPr/>
        </p:nvPicPr>
        <p:blipFill>
          <a:blip r:embed="rId3"/>
          <a:stretch>
            <a:fillRect/>
          </a:stretch>
        </p:blipFill>
        <p:spPr>
          <a:xfrm>
            <a:off x="1170432" y="3794760"/>
            <a:ext cx="310896" cy="310896"/>
          </a:xfrm>
          <a:prstGeom prst="rect">
            <a:avLst/>
          </a:prstGeom>
        </p:spPr>
      </p:pic>
      <p:sp>
        <p:nvSpPr>
          <p:cNvPr id="17" name="Text 12"/>
          <p:cNvSpPr/>
          <p:nvPr/>
        </p:nvSpPr>
        <p:spPr>
          <a:xfrm>
            <a:off x="1874520" y="3593592"/>
            <a:ext cx="2103120" cy="71323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CATEGORY</a:t>
            </a:r>
            <a:endParaRPr lang="en-US" sz="1500" dirty="0"/>
          </a:p>
        </p:txBody>
      </p:sp>
      <p:sp>
        <p:nvSpPr>
          <p:cNvPr id="18" name="Text 13"/>
          <p:cNvSpPr/>
          <p:nvPr/>
        </p:nvSpPr>
        <p:spPr>
          <a:xfrm>
            <a:off x="4114800" y="3593592"/>
            <a:ext cx="7223760" cy="713232"/>
          </a:xfrm>
          <a:prstGeom prst="rect">
            <a:avLst/>
          </a:prstGeom>
          <a:noFill/>
          <a:ln/>
        </p:spPr>
        <p:txBody>
          <a:bodyPr wrap="square" rtlCol="0" anchor="ctr"/>
          <a:lstStyle/>
          <a:p>
            <a:pPr indent="0" marL="0">
              <a:buNone/>
            </a:pPr>
            <a:r>
              <a:rPr lang="en-US" sz="1200" dirty="0">
                <a:solidFill>
                  <a:srgbClr val="CFEDEA"/>
                </a:solidFill>
                <a:latin typeface="Calibri" pitchFamily="34" charset="0"/>
                <a:ea typeface="Calibri" pitchFamily="34" charset="-122"/>
                <a:cs typeface="Calibri" pitchFamily="34" charset="-120"/>
              </a:rPr>
              <a:t>category_id (PK), category_name, description</a:t>
            </a:r>
            <a:endParaRPr lang="en-US" sz="1200" dirty="0"/>
          </a:p>
        </p:txBody>
      </p:sp>
      <p:sp>
        <p:nvSpPr>
          <p:cNvPr id="19" name="Shape 14"/>
          <p:cNvSpPr/>
          <p:nvPr/>
        </p:nvSpPr>
        <p:spPr>
          <a:xfrm>
            <a:off x="640080" y="4453128"/>
            <a:ext cx="10881360" cy="896112"/>
          </a:xfrm>
          <a:prstGeom prst="roundRect">
            <a:avLst>
              <a:gd name="adj" fmla="val 8163"/>
            </a:avLst>
          </a:prstGeom>
          <a:solidFill>
            <a:srgbClr val="0C4A50"/>
          </a:solidFill>
          <a:ln/>
        </p:spPr>
      </p:sp>
      <p:sp>
        <p:nvSpPr>
          <p:cNvPr id="20" name="Shape 15"/>
          <p:cNvSpPr/>
          <p:nvPr/>
        </p:nvSpPr>
        <p:spPr>
          <a:xfrm>
            <a:off x="1014984" y="4590288"/>
            <a:ext cx="621792" cy="621792"/>
          </a:xfrm>
          <a:prstGeom prst="ellipse">
            <a:avLst/>
          </a:prstGeom>
          <a:solidFill>
            <a:srgbClr val="02C39A"/>
          </a:solidFill>
          <a:ln/>
        </p:spPr>
      </p:sp>
      <p:pic>
        <p:nvPicPr>
          <p:cNvPr id="21" name="Image 3" descr="/home/claude/complaint_tracker/icons/usertie_dark.png">    </p:cNvPr>
          <p:cNvPicPr>
            <a:picLocks noChangeAspect="1"/>
          </p:cNvPicPr>
          <p:nvPr/>
        </p:nvPicPr>
        <p:blipFill>
          <a:blip r:embed="rId4"/>
          <a:stretch>
            <a:fillRect/>
          </a:stretch>
        </p:blipFill>
        <p:spPr>
          <a:xfrm>
            <a:off x="1170432" y="4745736"/>
            <a:ext cx="310896" cy="310896"/>
          </a:xfrm>
          <a:prstGeom prst="rect">
            <a:avLst/>
          </a:prstGeom>
        </p:spPr>
      </p:pic>
      <p:sp>
        <p:nvSpPr>
          <p:cNvPr id="22" name="Text 16"/>
          <p:cNvSpPr/>
          <p:nvPr/>
        </p:nvSpPr>
        <p:spPr>
          <a:xfrm>
            <a:off x="1874520" y="4544568"/>
            <a:ext cx="2103120" cy="71323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STAFF</a:t>
            </a:r>
            <a:endParaRPr lang="en-US" sz="1500" dirty="0"/>
          </a:p>
        </p:txBody>
      </p:sp>
      <p:sp>
        <p:nvSpPr>
          <p:cNvPr id="23" name="Text 17"/>
          <p:cNvSpPr/>
          <p:nvPr/>
        </p:nvSpPr>
        <p:spPr>
          <a:xfrm>
            <a:off x="4114800" y="4544568"/>
            <a:ext cx="7223760" cy="713232"/>
          </a:xfrm>
          <a:prstGeom prst="rect">
            <a:avLst/>
          </a:prstGeom>
          <a:noFill/>
          <a:ln/>
        </p:spPr>
        <p:txBody>
          <a:bodyPr wrap="square" rtlCol="0" anchor="ctr"/>
          <a:lstStyle/>
          <a:p>
            <a:pPr indent="0" marL="0">
              <a:buNone/>
            </a:pPr>
            <a:r>
              <a:rPr lang="en-US" sz="1200" dirty="0">
                <a:solidFill>
                  <a:srgbClr val="CFEDEA"/>
                </a:solidFill>
                <a:latin typeface="Calibri" pitchFamily="34" charset="0"/>
                <a:ea typeface="Calibri" pitchFamily="34" charset="-122"/>
                <a:cs typeface="Calibri" pitchFamily="34" charset="-120"/>
              </a:rPr>
              <a:t>staff_id (PK), name, department, email</a:t>
            </a:r>
            <a:endParaRPr lang="en-US" sz="1200" dirty="0"/>
          </a:p>
        </p:txBody>
      </p:sp>
      <p:sp>
        <p:nvSpPr>
          <p:cNvPr id="24" name="Shape 18"/>
          <p:cNvSpPr/>
          <p:nvPr/>
        </p:nvSpPr>
        <p:spPr>
          <a:xfrm>
            <a:off x="640080" y="5404104"/>
            <a:ext cx="10881360" cy="896112"/>
          </a:xfrm>
          <a:prstGeom prst="roundRect">
            <a:avLst>
              <a:gd name="adj" fmla="val 8163"/>
            </a:avLst>
          </a:prstGeom>
          <a:solidFill>
            <a:srgbClr val="0C4A50"/>
          </a:solidFill>
          <a:ln/>
        </p:spPr>
      </p:sp>
      <p:sp>
        <p:nvSpPr>
          <p:cNvPr id="25" name="Shape 19"/>
          <p:cNvSpPr/>
          <p:nvPr/>
        </p:nvSpPr>
        <p:spPr>
          <a:xfrm>
            <a:off x="1014984" y="5541264"/>
            <a:ext cx="621792" cy="621792"/>
          </a:xfrm>
          <a:prstGeom prst="ellipse">
            <a:avLst/>
          </a:prstGeom>
          <a:solidFill>
            <a:srgbClr val="02C39A"/>
          </a:solidFill>
          <a:ln/>
        </p:spPr>
      </p:sp>
      <p:pic>
        <p:nvPicPr>
          <p:cNvPr id="26" name="Image 4" descr="/home/claude/complaint_tracker/icons/sync_dark.png">    </p:cNvPr>
          <p:cNvPicPr>
            <a:picLocks noChangeAspect="1"/>
          </p:cNvPicPr>
          <p:nvPr/>
        </p:nvPicPr>
        <p:blipFill>
          <a:blip r:embed="rId5"/>
          <a:stretch>
            <a:fillRect/>
          </a:stretch>
        </p:blipFill>
        <p:spPr>
          <a:xfrm>
            <a:off x="1170432" y="5696712"/>
            <a:ext cx="310896" cy="310896"/>
          </a:xfrm>
          <a:prstGeom prst="rect">
            <a:avLst/>
          </a:prstGeom>
        </p:spPr>
      </p:pic>
      <p:sp>
        <p:nvSpPr>
          <p:cNvPr id="27" name="Text 20"/>
          <p:cNvSpPr/>
          <p:nvPr/>
        </p:nvSpPr>
        <p:spPr>
          <a:xfrm>
            <a:off x="1874520" y="5495544"/>
            <a:ext cx="2103120" cy="713232"/>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STATUS_LOG</a:t>
            </a:r>
            <a:endParaRPr lang="en-US" sz="1500" dirty="0"/>
          </a:p>
        </p:txBody>
      </p:sp>
      <p:sp>
        <p:nvSpPr>
          <p:cNvPr id="28" name="Text 21"/>
          <p:cNvSpPr/>
          <p:nvPr/>
        </p:nvSpPr>
        <p:spPr>
          <a:xfrm>
            <a:off x="4114800" y="5495544"/>
            <a:ext cx="7223760" cy="713232"/>
          </a:xfrm>
          <a:prstGeom prst="rect">
            <a:avLst/>
          </a:prstGeom>
          <a:noFill/>
          <a:ln/>
        </p:spPr>
        <p:txBody>
          <a:bodyPr wrap="square" rtlCol="0" anchor="ctr"/>
          <a:lstStyle/>
          <a:p>
            <a:pPr indent="0" marL="0">
              <a:buNone/>
            </a:pPr>
            <a:r>
              <a:rPr lang="en-US" sz="1200" dirty="0">
                <a:solidFill>
                  <a:srgbClr val="CFEDEA"/>
                </a:solidFill>
                <a:latin typeface="Calibri" pitchFamily="34" charset="0"/>
                <a:ea typeface="Calibri" pitchFamily="34" charset="-122"/>
                <a:cs typeface="Calibri" pitchFamily="34" charset="-120"/>
              </a:rPr>
              <a:t>log_id (PK), complaint_id (FK), staff_id (FK), status, remarks, updated_on</a:t>
            </a:r>
            <a:endParaRPr lang="en-US" sz="1200" dirty="0"/>
          </a:p>
        </p:txBody>
      </p:sp>
      <p:sp>
        <p:nvSpPr>
          <p:cNvPr id="29" name="Text 22"/>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30" name="Text 2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Key Features</a:t>
            </a:r>
            <a:endParaRPr lang="en-US" sz="3200" dirty="0"/>
          </a:p>
        </p:txBody>
      </p:sp>
      <p:sp>
        <p:nvSpPr>
          <p:cNvPr id="3" name="Shape 1"/>
          <p:cNvSpPr/>
          <p:nvPr/>
        </p:nvSpPr>
        <p:spPr>
          <a:xfrm>
            <a:off x="640080" y="150876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4" name="Shape 2"/>
          <p:cNvSpPr/>
          <p:nvPr/>
        </p:nvSpPr>
        <p:spPr>
          <a:xfrm>
            <a:off x="891540" y="1714500"/>
            <a:ext cx="685800" cy="685800"/>
          </a:xfrm>
          <a:prstGeom prst="ellipse">
            <a:avLst/>
          </a:prstGeom>
          <a:solidFill>
            <a:srgbClr val="028090"/>
          </a:solidFill>
          <a:ln/>
        </p:spPr>
      </p:sp>
      <p:pic>
        <p:nvPicPr>
          <p:cNvPr id="5" name="Image 0" descr="/home/claude/complaint_tracker/icons/clipboard_white.png">    </p:cNvPr>
          <p:cNvPicPr>
            <a:picLocks noChangeAspect="1"/>
          </p:cNvPicPr>
          <p:nvPr/>
        </p:nvPicPr>
        <p:blipFill>
          <a:blip r:embed="rId1"/>
          <a:stretch>
            <a:fillRect/>
          </a:stretch>
        </p:blipFill>
        <p:spPr>
          <a:xfrm>
            <a:off x="1062990" y="1885950"/>
            <a:ext cx="342900" cy="342900"/>
          </a:xfrm>
          <a:prstGeom prst="rect">
            <a:avLst/>
          </a:prstGeom>
        </p:spPr>
      </p:pic>
      <p:sp>
        <p:nvSpPr>
          <p:cNvPr id="6" name="Text 3"/>
          <p:cNvSpPr/>
          <p:nvPr/>
        </p:nvSpPr>
        <p:spPr>
          <a:xfrm>
            <a:off x="868680" y="256032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Complaint Logging</a:t>
            </a:r>
            <a:endParaRPr lang="en-US" sz="1400" dirty="0"/>
          </a:p>
        </p:txBody>
      </p:sp>
      <p:sp>
        <p:nvSpPr>
          <p:cNvPr id="7" name="Text 4"/>
          <p:cNvSpPr/>
          <p:nvPr/>
        </p:nvSpPr>
        <p:spPr>
          <a:xfrm>
            <a:off x="868680" y="292608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Quick entry with category, priority, and customer linkage.</a:t>
            </a:r>
            <a:endParaRPr lang="en-US" sz="1150" dirty="0"/>
          </a:p>
        </p:txBody>
      </p:sp>
      <p:sp>
        <p:nvSpPr>
          <p:cNvPr id="8" name="Shape 5"/>
          <p:cNvSpPr/>
          <p:nvPr/>
        </p:nvSpPr>
        <p:spPr>
          <a:xfrm>
            <a:off x="4389120" y="150876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9" name="Shape 6"/>
          <p:cNvSpPr/>
          <p:nvPr/>
        </p:nvSpPr>
        <p:spPr>
          <a:xfrm>
            <a:off x="4640580" y="1714500"/>
            <a:ext cx="685800" cy="685800"/>
          </a:xfrm>
          <a:prstGeom prst="ellipse">
            <a:avLst/>
          </a:prstGeom>
          <a:solidFill>
            <a:srgbClr val="028090"/>
          </a:solidFill>
          <a:ln/>
        </p:spPr>
      </p:sp>
      <p:pic>
        <p:nvPicPr>
          <p:cNvPr id="10" name="Image 1" descr="/home/claude/complaint_tracker/icons/sitemap_white.png">    </p:cNvPr>
          <p:cNvPicPr>
            <a:picLocks noChangeAspect="1"/>
          </p:cNvPicPr>
          <p:nvPr/>
        </p:nvPicPr>
        <p:blipFill>
          <a:blip r:embed="rId2"/>
          <a:stretch>
            <a:fillRect/>
          </a:stretch>
        </p:blipFill>
        <p:spPr>
          <a:xfrm>
            <a:off x="4812030" y="1885950"/>
            <a:ext cx="342900" cy="342900"/>
          </a:xfrm>
          <a:prstGeom prst="rect">
            <a:avLst/>
          </a:prstGeom>
        </p:spPr>
      </p:pic>
      <p:sp>
        <p:nvSpPr>
          <p:cNvPr id="11" name="Text 7"/>
          <p:cNvSpPr/>
          <p:nvPr/>
        </p:nvSpPr>
        <p:spPr>
          <a:xfrm>
            <a:off x="4617720" y="256032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Auto Assignment</a:t>
            </a:r>
            <a:endParaRPr lang="en-US" sz="1400" dirty="0"/>
          </a:p>
        </p:txBody>
      </p:sp>
      <p:sp>
        <p:nvSpPr>
          <p:cNvPr id="12" name="Text 8"/>
          <p:cNvSpPr/>
          <p:nvPr/>
        </p:nvSpPr>
        <p:spPr>
          <a:xfrm>
            <a:off x="4617720" y="292608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Routes complaints to the right staff member or department.</a:t>
            </a:r>
            <a:endParaRPr lang="en-US" sz="1150" dirty="0"/>
          </a:p>
        </p:txBody>
      </p:sp>
      <p:sp>
        <p:nvSpPr>
          <p:cNvPr id="13" name="Shape 9"/>
          <p:cNvSpPr/>
          <p:nvPr/>
        </p:nvSpPr>
        <p:spPr>
          <a:xfrm>
            <a:off x="8138160" y="150876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14" name="Shape 10"/>
          <p:cNvSpPr/>
          <p:nvPr/>
        </p:nvSpPr>
        <p:spPr>
          <a:xfrm>
            <a:off x="8389620" y="1714500"/>
            <a:ext cx="685800" cy="685800"/>
          </a:xfrm>
          <a:prstGeom prst="ellipse">
            <a:avLst/>
          </a:prstGeom>
          <a:solidFill>
            <a:srgbClr val="028090"/>
          </a:solidFill>
          <a:ln/>
        </p:spPr>
      </p:sp>
      <p:pic>
        <p:nvPicPr>
          <p:cNvPr id="15" name="Image 2" descr="/home/claude/complaint_tracker/icons/bell_white.png">    </p:cNvPr>
          <p:cNvPicPr>
            <a:picLocks noChangeAspect="1"/>
          </p:cNvPicPr>
          <p:nvPr/>
        </p:nvPicPr>
        <p:blipFill>
          <a:blip r:embed="rId3"/>
          <a:stretch>
            <a:fillRect/>
          </a:stretch>
        </p:blipFill>
        <p:spPr>
          <a:xfrm>
            <a:off x="8561070" y="1885950"/>
            <a:ext cx="342900" cy="342900"/>
          </a:xfrm>
          <a:prstGeom prst="rect">
            <a:avLst/>
          </a:prstGeom>
        </p:spPr>
      </p:pic>
      <p:sp>
        <p:nvSpPr>
          <p:cNvPr id="16" name="Text 11"/>
          <p:cNvSpPr/>
          <p:nvPr/>
        </p:nvSpPr>
        <p:spPr>
          <a:xfrm>
            <a:off x="8366760" y="256032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Status Notifications</a:t>
            </a:r>
            <a:endParaRPr lang="en-US" sz="1400" dirty="0"/>
          </a:p>
        </p:txBody>
      </p:sp>
      <p:sp>
        <p:nvSpPr>
          <p:cNvPr id="17" name="Text 12"/>
          <p:cNvSpPr/>
          <p:nvPr/>
        </p:nvSpPr>
        <p:spPr>
          <a:xfrm>
            <a:off x="8366760" y="292608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Customers and staff alerted on every status change.</a:t>
            </a:r>
            <a:endParaRPr lang="en-US" sz="1150" dirty="0"/>
          </a:p>
        </p:txBody>
      </p:sp>
      <p:sp>
        <p:nvSpPr>
          <p:cNvPr id="18" name="Shape 13"/>
          <p:cNvSpPr/>
          <p:nvPr/>
        </p:nvSpPr>
        <p:spPr>
          <a:xfrm>
            <a:off x="640080" y="393192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19" name="Shape 14"/>
          <p:cNvSpPr/>
          <p:nvPr/>
        </p:nvSpPr>
        <p:spPr>
          <a:xfrm>
            <a:off x="891540" y="4137660"/>
            <a:ext cx="685800" cy="685800"/>
          </a:xfrm>
          <a:prstGeom prst="ellipse">
            <a:avLst/>
          </a:prstGeom>
          <a:solidFill>
            <a:srgbClr val="028090"/>
          </a:solidFill>
          <a:ln/>
        </p:spPr>
      </p:sp>
      <p:pic>
        <p:nvPicPr>
          <p:cNvPr id="20" name="Image 3" descr="/home/claude/complaint_tracker/icons/search_white.png">    </p:cNvPr>
          <p:cNvPicPr>
            <a:picLocks noChangeAspect="1"/>
          </p:cNvPicPr>
          <p:nvPr/>
        </p:nvPicPr>
        <p:blipFill>
          <a:blip r:embed="rId4"/>
          <a:stretch>
            <a:fillRect/>
          </a:stretch>
        </p:blipFill>
        <p:spPr>
          <a:xfrm>
            <a:off x="1062990" y="4309110"/>
            <a:ext cx="342900" cy="342900"/>
          </a:xfrm>
          <a:prstGeom prst="rect">
            <a:avLst/>
          </a:prstGeom>
        </p:spPr>
      </p:pic>
      <p:sp>
        <p:nvSpPr>
          <p:cNvPr id="21" name="Text 15"/>
          <p:cNvSpPr/>
          <p:nvPr/>
        </p:nvSpPr>
        <p:spPr>
          <a:xfrm>
            <a:off x="868680" y="498348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Advanced Search</a:t>
            </a:r>
            <a:endParaRPr lang="en-US" sz="1400" dirty="0"/>
          </a:p>
        </p:txBody>
      </p:sp>
      <p:sp>
        <p:nvSpPr>
          <p:cNvPr id="22" name="Text 16"/>
          <p:cNvSpPr/>
          <p:nvPr/>
        </p:nvSpPr>
        <p:spPr>
          <a:xfrm>
            <a:off x="868680" y="534924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Filter by date, status, category, or customer instantly.</a:t>
            </a:r>
            <a:endParaRPr lang="en-US" sz="1150" dirty="0"/>
          </a:p>
        </p:txBody>
      </p:sp>
      <p:sp>
        <p:nvSpPr>
          <p:cNvPr id="23" name="Shape 17"/>
          <p:cNvSpPr/>
          <p:nvPr/>
        </p:nvSpPr>
        <p:spPr>
          <a:xfrm>
            <a:off x="4389120" y="393192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24" name="Shape 18"/>
          <p:cNvSpPr/>
          <p:nvPr/>
        </p:nvSpPr>
        <p:spPr>
          <a:xfrm>
            <a:off x="4640580" y="4137660"/>
            <a:ext cx="685800" cy="685800"/>
          </a:xfrm>
          <a:prstGeom prst="ellipse">
            <a:avLst/>
          </a:prstGeom>
          <a:solidFill>
            <a:srgbClr val="028090"/>
          </a:solidFill>
          <a:ln/>
        </p:spPr>
      </p:sp>
      <p:pic>
        <p:nvPicPr>
          <p:cNvPr id="25" name="Image 4" descr="/home/claude/complaint_tracker/icons/chartbar_white.png">    </p:cNvPr>
          <p:cNvPicPr>
            <a:picLocks noChangeAspect="1"/>
          </p:cNvPicPr>
          <p:nvPr/>
        </p:nvPicPr>
        <p:blipFill>
          <a:blip r:embed="rId5"/>
          <a:stretch>
            <a:fillRect/>
          </a:stretch>
        </p:blipFill>
        <p:spPr>
          <a:xfrm>
            <a:off x="4812030" y="4309110"/>
            <a:ext cx="342900" cy="342900"/>
          </a:xfrm>
          <a:prstGeom prst="rect">
            <a:avLst/>
          </a:prstGeom>
        </p:spPr>
      </p:pic>
      <p:sp>
        <p:nvSpPr>
          <p:cNvPr id="26" name="Text 19"/>
          <p:cNvSpPr/>
          <p:nvPr/>
        </p:nvSpPr>
        <p:spPr>
          <a:xfrm>
            <a:off x="4617720" y="498348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Analytics Dashboard</a:t>
            </a:r>
            <a:endParaRPr lang="en-US" sz="1400" dirty="0"/>
          </a:p>
        </p:txBody>
      </p:sp>
      <p:sp>
        <p:nvSpPr>
          <p:cNvPr id="27" name="Text 20"/>
          <p:cNvSpPr/>
          <p:nvPr/>
        </p:nvSpPr>
        <p:spPr>
          <a:xfrm>
            <a:off x="4617720" y="534924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Visual reports on resolution time and complaint trends.</a:t>
            </a:r>
            <a:endParaRPr lang="en-US" sz="1150" dirty="0"/>
          </a:p>
        </p:txBody>
      </p:sp>
      <p:sp>
        <p:nvSpPr>
          <p:cNvPr id="28" name="Shape 21"/>
          <p:cNvSpPr/>
          <p:nvPr/>
        </p:nvSpPr>
        <p:spPr>
          <a:xfrm>
            <a:off x="8138160" y="3931920"/>
            <a:ext cx="3429000" cy="2148840"/>
          </a:xfrm>
          <a:prstGeom prst="roundRect">
            <a:avLst>
              <a:gd name="adj" fmla="val 4255"/>
            </a:avLst>
          </a:prstGeom>
          <a:solidFill>
            <a:srgbClr val="F4FAF9"/>
          </a:solidFill>
          <a:ln/>
          <a:effectLst>
            <a:outerShdw sx="100000" sy="100000" kx="0" ky="0" algn="bl" rotWithShape="0" blurRad="76200" dist="25400" dir="5400000">
              <a:srgbClr val="808080">
                <a:alpha val="15000"/>
              </a:srgbClr>
            </a:outerShdw>
          </a:effectLst>
        </p:spPr>
      </p:sp>
      <p:sp>
        <p:nvSpPr>
          <p:cNvPr id="29" name="Shape 22"/>
          <p:cNvSpPr/>
          <p:nvPr/>
        </p:nvSpPr>
        <p:spPr>
          <a:xfrm>
            <a:off x="8389620" y="4137660"/>
            <a:ext cx="685800" cy="685800"/>
          </a:xfrm>
          <a:prstGeom prst="ellipse">
            <a:avLst/>
          </a:prstGeom>
          <a:solidFill>
            <a:srgbClr val="028090"/>
          </a:solidFill>
          <a:ln/>
        </p:spPr>
      </p:sp>
      <p:pic>
        <p:nvPicPr>
          <p:cNvPr id="30" name="Image 5" descr="/home/claude/complaint_tracker/icons/lock_white.png">    </p:cNvPr>
          <p:cNvPicPr>
            <a:picLocks noChangeAspect="1"/>
          </p:cNvPicPr>
          <p:nvPr/>
        </p:nvPicPr>
        <p:blipFill>
          <a:blip r:embed="rId6"/>
          <a:stretch>
            <a:fillRect/>
          </a:stretch>
        </p:blipFill>
        <p:spPr>
          <a:xfrm>
            <a:off x="8561070" y="4309110"/>
            <a:ext cx="342900" cy="342900"/>
          </a:xfrm>
          <a:prstGeom prst="rect">
            <a:avLst/>
          </a:prstGeom>
        </p:spPr>
      </p:pic>
      <p:sp>
        <p:nvSpPr>
          <p:cNvPr id="31" name="Text 23"/>
          <p:cNvSpPr/>
          <p:nvPr/>
        </p:nvSpPr>
        <p:spPr>
          <a:xfrm>
            <a:off x="8366760" y="4983480"/>
            <a:ext cx="2971800" cy="365760"/>
          </a:xfrm>
          <a:prstGeom prst="rect">
            <a:avLst/>
          </a:prstGeom>
          <a:noFill/>
          <a:ln/>
        </p:spPr>
        <p:txBody>
          <a:bodyPr wrap="square" rtlCol="0" anchor="ctr"/>
          <a:lstStyle/>
          <a:p>
            <a:pPr indent="0" marL="0">
              <a:buNone/>
            </a:pPr>
            <a:r>
              <a:rPr lang="en-US" sz="1400" b="1" dirty="0">
                <a:solidFill>
                  <a:srgbClr val="013A40"/>
                </a:solidFill>
                <a:latin typeface="Cambria" pitchFamily="34" charset="0"/>
                <a:ea typeface="Cambria" pitchFamily="34" charset="-122"/>
                <a:cs typeface="Cambria" pitchFamily="34" charset="-120"/>
              </a:rPr>
              <a:t>Role-Based Access</a:t>
            </a:r>
            <a:endParaRPr lang="en-US" sz="1400" dirty="0"/>
          </a:p>
        </p:txBody>
      </p:sp>
      <p:sp>
        <p:nvSpPr>
          <p:cNvPr id="32" name="Text 24"/>
          <p:cNvSpPr/>
          <p:nvPr/>
        </p:nvSpPr>
        <p:spPr>
          <a:xfrm>
            <a:off x="8366760" y="5349240"/>
            <a:ext cx="2971800" cy="640080"/>
          </a:xfrm>
          <a:prstGeom prst="rect">
            <a:avLst/>
          </a:prstGeom>
          <a:noFill/>
          <a:ln/>
        </p:spPr>
        <p:txBody>
          <a:bodyPr wrap="square" rtlCol="0" anchor="t"/>
          <a:lstStyle/>
          <a:p>
            <a:pPr indent="0" marL="0">
              <a:lnSpc>
                <a:spcPct val="115000"/>
              </a:lnSpc>
              <a:buNone/>
            </a:pPr>
            <a:r>
              <a:rPr lang="en-US" sz="1150" dirty="0">
                <a:solidFill>
                  <a:srgbClr val="5A7A7E"/>
                </a:solidFill>
                <a:latin typeface="Calibri" pitchFamily="34" charset="0"/>
                <a:ea typeface="Calibri" pitchFamily="34" charset="-122"/>
                <a:cs typeface="Calibri" pitchFamily="34" charset="-120"/>
              </a:rPr>
              <a:t>Staff and admin permissions keep data secure and audited.</a:t>
            </a:r>
            <a:endParaRPr lang="en-US" sz="1150" dirty="0"/>
          </a:p>
        </p:txBody>
      </p:sp>
      <p:sp>
        <p:nvSpPr>
          <p:cNvPr id="33" name="Text 25"/>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34" name="Text 26"/>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Technology Stack</a:t>
            </a:r>
            <a:endParaRPr lang="en-US" sz="3200" dirty="0"/>
          </a:p>
        </p:txBody>
      </p:sp>
      <p:sp>
        <p:nvSpPr>
          <p:cNvPr id="3" name="Text 1"/>
          <p:cNvSpPr/>
          <p:nvPr/>
        </p:nvSpPr>
        <p:spPr>
          <a:xfrm>
            <a:off x="640080" y="1097280"/>
            <a:ext cx="9144000" cy="365760"/>
          </a:xfrm>
          <a:prstGeom prst="rect">
            <a:avLst/>
          </a:prstGeom>
          <a:noFill/>
          <a:ln/>
        </p:spPr>
        <p:txBody>
          <a:bodyPr wrap="square" rtlCol="0" anchor="ctr"/>
          <a:lstStyle/>
          <a:p>
            <a:pPr indent="0" marL="0">
              <a:buNone/>
            </a:pPr>
            <a:r>
              <a:rPr lang="en-US" sz="1400" i="1" dirty="0">
                <a:solidFill>
                  <a:srgbClr val="5A7A7E"/>
                </a:solidFill>
                <a:latin typeface="Calibri" pitchFamily="34" charset="0"/>
                <a:ea typeface="Calibri" pitchFamily="34" charset="-122"/>
                <a:cs typeface="Calibri" pitchFamily="34" charset="-120"/>
              </a:rPr>
              <a:t>Layered toolset from interface to storage</a:t>
            </a:r>
            <a:endParaRPr lang="en-US" sz="1400" dirty="0"/>
          </a:p>
        </p:txBody>
      </p:sp>
      <p:sp>
        <p:nvSpPr>
          <p:cNvPr id="4" name="Shape 2"/>
          <p:cNvSpPr/>
          <p:nvPr/>
        </p:nvSpPr>
        <p:spPr>
          <a:xfrm>
            <a:off x="640080" y="1965960"/>
            <a:ext cx="2606040" cy="3108960"/>
          </a:xfrm>
          <a:prstGeom prst="roundRect">
            <a:avLst>
              <a:gd name="adj" fmla="val 3509"/>
            </a:avLst>
          </a:prstGeom>
          <a:solidFill>
            <a:srgbClr val="028090"/>
          </a:solidFill>
          <a:ln/>
        </p:spPr>
      </p:sp>
      <p:sp>
        <p:nvSpPr>
          <p:cNvPr id="5" name="Shape 3"/>
          <p:cNvSpPr/>
          <p:nvPr/>
        </p:nvSpPr>
        <p:spPr>
          <a:xfrm>
            <a:off x="1463040" y="2354580"/>
            <a:ext cx="960120" cy="960120"/>
          </a:xfrm>
          <a:prstGeom prst="ellipse">
            <a:avLst/>
          </a:prstGeom>
          <a:solidFill>
            <a:srgbClr val="FFFFFF"/>
          </a:solidFill>
          <a:ln/>
        </p:spPr>
      </p:sp>
      <p:pic>
        <p:nvPicPr>
          <p:cNvPr id="6" name="Image 0" descr="/home/claude/complaint_tracker/icons/mobile_teal.png">    </p:cNvPr>
          <p:cNvPicPr>
            <a:picLocks noChangeAspect="1"/>
          </p:cNvPicPr>
          <p:nvPr/>
        </p:nvPicPr>
        <p:blipFill>
          <a:blip r:embed="rId1"/>
          <a:stretch>
            <a:fillRect/>
          </a:stretch>
        </p:blipFill>
        <p:spPr>
          <a:xfrm>
            <a:off x="1703070" y="2594610"/>
            <a:ext cx="480060" cy="480060"/>
          </a:xfrm>
          <a:prstGeom prst="rect">
            <a:avLst/>
          </a:prstGeom>
        </p:spPr>
      </p:pic>
      <p:sp>
        <p:nvSpPr>
          <p:cNvPr id="7" name="Text 4"/>
          <p:cNvSpPr/>
          <p:nvPr/>
        </p:nvSpPr>
        <p:spPr>
          <a:xfrm>
            <a:off x="822960" y="3566160"/>
            <a:ext cx="224028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Frontend</a:t>
            </a:r>
            <a:endParaRPr lang="en-US" sz="1600" dirty="0"/>
          </a:p>
        </p:txBody>
      </p:sp>
      <p:sp>
        <p:nvSpPr>
          <p:cNvPr id="8" name="Text 5"/>
          <p:cNvSpPr/>
          <p:nvPr/>
        </p:nvSpPr>
        <p:spPr>
          <a:xfrm>
            <a:off x="868680" y="4023360"/>
            <a:ext cx="2148840" cy="822960"/>
          </a:xfrm>
          <a:prstGeom prst="rect">
            <a:avLst/>
          </a:prstGeom>
          <a:noFill/>
          <a:ln/>
        </p:spPr>
        <p:txBody>
          <a:bodyPr wrap="square" rtlCol="0" anchor="t"/>
          <a:lstStyle/>
          <a:p>
            <a:pPr algn="ctr" indent="0" marL="0">
              <a:lnSpc>
                <a:spcPct val="120000"/>
              </a:lnSpc>
              <a:buNone/>
            </a:pPr>
            <a:r>
              <a:rPr lang="en-US" sz="1150" dirty="0">
                <a:solidFill>
                  <a:srgbClr val="FFFFFF"/>
                </a:solidFill>
                <a:latin typeface="Calibri" pitchFamily="34" charset="0"/>
                <a:ea typeface="Calibri" pitchFamily="34" charset="-122"/>
                <a:cs typeface="Calibri" pitchFamily="34" charset="-120"/>
              </a:rPr>
              <a:t>HTML, CSS, JavaScript / React</a:t>
            </a:r>
            <a:endParaRPr lang="en-US" sz="1150" dirty="0"/>
          </a:p>
        </p:txBody>
      </p:sp>
      <p:sp>
        <p:nvSpPr>
          <p:cNvPr id="9" name="Shape 6"/>
          <p:cNvSpPr/>
          <p:nvPr/>
        </p:nvSpPr>
        <p:spPr>
          <a:xfrm>
            <a:off x="3502152" y="1965960"/>
            <a:ext cx="2606040" cy="3108960"/>
          </a:xfrm>
          <a:prstGeom prst="roundRect">
            <a:avLst>
              <a:gd name="adj" fmla="val 3509"/>
            </a:avLst>
          </a:prstGeom>
          <a:solidFill>
            <a:srgbClr val="00A896"/>
          </a:solidFill>
          <a:ln/>
        </p:spPr>
      </p:sp>
      <p:sp>
        <p:nvSpPr>
          <p:cNvPr id="10" name="Shape 7"/>
          <p:cNvSpPr/>
          <p:nvPr/>
        </p:nvSpPr>
        <p:spPr>
          <a:xfrm>
            <a:off x="4325112" y="2354580"/>
            <a:ext cx="960120" cy="960120"/>
          </a:xfrm>
          <a:prstGeom prst="ellipse">
            <a:avLst/>
          </a:prstGeom>
          <a:solidFill>
            <a:srgbClr val="FFFFFF"/>
          </a:solidFill>
          <a:ln/>
        </p:spPr>
      </p:sp>
      <p:pic>
        <p:nvPicPr>
          <p:cNvPr id="11" name="Image 1" descr="/home/claude/complaint_tracker/icons/code_teal.png">    </p:cNvPr>
          <p:cNvPicPr>
            <a:picLocks noChangeAspect="1"/>
          </p:cNvPicPr>
          <p:nvPr/>
        </p:nvPicPr>
        <p:blipFill>
          <a:blip r:embed="rId2"/>
          <a:stretch>
            <a:fillRect/>
          </a:stretch>
        </p:blipFill>
        <p:spPr>
          <a:xfrm>
            <a:off x="4565142" y="2594610"/>
            <a:ext cx="480060" cy="480060"/>
          </a:xfrm>
          <a:prstGeom prst="rect">
            <a:avLst/>
          </a:prstGeom>
        </p:spPr>
      </p:pic>
      <p:sp>
        <p:nvSpPr>
          <p:cNvPr id="12" name="Text 8"/>
          <p:cNvSpPr/>
          <p:nvPr/>
        </p:nvSpPr>
        <p:spPr>
          <a:xfrm>
            <a:off x="3685032" y="3566160"/>
            <a:ext cx="224028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Backend</a:t>
            </a:r>
            <a:endParaRPr lang="en-US" sz="1600" dirty="0"/>
          </a:p>
        </p:txBody>
      </p:sp>
      <p:sp>
        <p:nvSpPr>
          <p:cNvPr id="13" name="Text 9"/>
          <p:cNvSpPr/>
          <p:nvPr/>
        </p:nvSpPr>
        <p:spPr>
          <a:xfrm>
            <a:off x="3730752" y="4023360"/>
            <a:ext cx="2148840" cy="822960"/>
          </a:xfrm>
          <a:prstGeom prst="rect">
            <a:avLst/>
          </a:prstGeom>
          <a:noFill/>
          <a:ln/>
        </p:spPr>
        <p:txBody>
          <a:bodyPr wrap="square" rtlCol="0" anchor="t"/>
          <a:lstStyle/>
          <a:p>
            <a:pPr algn="ctr" indent="0" marL="0">
              <a:lnSpc>
                <a:spcPct val="120000"/>
              </a:lnSpc>
              <a:buNone/>
            </a:pPr>
            <a:r>
              <a:rPr lang="en-US" sz="1150" dirty="0">
                <a:solidFill>
                  <a:srgbClr val="FFFFFF"/>
                </a:solidFill>
                <a:latin typeface="Calibri" pitchFamily="34" charset="0"/>
                <a:ea typeface="Calibri" pitchFamily="34" charset="-122"/>
                <a:cs typeface="Calibri" pitchFamily="34" charset="-120"/>
              </a:rPr>
              <a:t>Python (Django) or Java (Spring)</a:t>
            </a:r>
            <a:endParaRPr lang="en-US" sz="1150" dirty="0"/>
          </a:p>
        </p:txBody>
      </p:sp>
      <p:sp>
        <p:nvSpPr>
          <p:cNvPr id="14" name="Shape 10"/>
          <p:cNvSpPr/>
          <p:nvPr/>
        </p:nvSpPr>
        <p:spPr>
          <a:xfrm>
            <a:off x="6364224" y="1965960"/>
            <a:ext cx="2606040" cy="3108960"/>
          </a:xfrm>
          <a:prstGeom prst="roundRect">
            <a:avLst>
              <a:gd name="adj" fmla="val 3509"/>
            </a:avLst>
          </a:prstGeom>
          <a:solidFill>
            <a:srgbClr val="028090"/>
          </a:solidFill>
          <a:ln/>
        </p:spPr>
      </p:sp>
      <p:sp>
        <p:nvSpPr>
          <p:cNvPr id="15" name="Shape 11"/>
          <p:cNvSpPr/>
          <p:nvPr/>
        </p:nvSpPr>
        <p:spPr>
          <a:xfrm>
            <a:off x="7187184" y="2354580"/>
            <a:ext cx="960120" cy="960120"/>
          </a:xfrm>
          <a:prstGeom prst="ellipse">
            <a:avLst/>
          </a:prstGeom>
          <a:solidFill>
            <a:srgbClr val="FFFFFF"/>
          </a:solidFill>
          <a:ln/>
        </p:spPr>
      </p:sp>
      <p:pic>
        <p:nvPicPr>
          <p:cNvPr id="16" name="Image 2" descr="/home/claude/complaint_tracker/icons/database_teal.png">    </p:cNvPr>
          <p:cNvPicPr>
            <a:picLocks noChangeAspect="1"/>
          </p:cNvPicPr>
          <p:nvPr/>
        </p:nvPicPr>
        <p:blipFill>
          <a:blip r:embed="rId3"/>
          <a:stretch>
            <a:fillRect/>
          </a:stretch>
        </p:blipFill>
        <p:spPr>
          <a:xfrm>
            <a:off x="7427214" y="2594610"/>
            <a:ext cx="480060" cy="480060"/>
          </a:xfrm>
          <a:prstGeom prst="rect">
            <a:avLst/>
          </a:prstGeom>
        </p:spPr>
      </p:pic>
      <p:sp>
        <p:nvSpPr>
          <p:cNvPr id="17" name="Text 12"/>
          <p:cNvSpPr/>
          <p:nvPr/>
        </p:nvSpPr>
        <p:spPr>
          <a:xfrm>
            <a:off x="6547104" y="3566160"/>
            <a:ext cx="224028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Database</a:t>
            </a:r>
            <a:endParaRPr lang="en-US" sz="1600" dirty="0"/>
          </a:p>
        </p:txBody>
      </p:sp>
      <p:sp>
        <p:nvSpPr>
          <p:cNvPr id="18" name="Text 13"/>
          <p:cNvSpPr/>
          <p:nvPr/>
        </p:nvSpPr>
        <p:spPr>
          <a:xfrm>
            <a:off x="6592824" y="4023360"/>
            <a:ext cx="2148840" cy="822960"/>
          </a:xfrm>
          <a:prstGeom prst="rect">
            <a:avLst/>
          </a:prstGeom>
          <a:noFill/>
          <a:ln/>
        </p:spPr>
        <p:txBody>
          <a:bodyPr wrap="square" rtlCol="0" anchor="t"/>
          <a:lstStyle/>
          <a:p>
            <a:pPr algn="ctr" indent="0" marL="0">
              <a:lnSpc>
                <a:spcPct val="120000"/>
              </a:lnSpc>
              <a:buNone/>
            </a:pPr>
            <a:r>
              <a:rPr lang="en-US" sz="1150" dirty="0">
                <a:solidFill>
                  <a:srgbClr val="FFFFFF"/>
                </a:solidFill>
                <a:latin typeface="Calibri" pitchFamily="34" charset="0"/>
                <a:ea typeface="Calibri" pitchFamily="34" charset="-122"/>
                <a:cs typeface="Calibri" pitchFamily="34" charset="-120"/>
              </a:rPr>
              <a:t>MySQL / PostgreSQL</a:t>
            </a:r>
            <a:endParaRPr lang="en-US" sz="1150" dirty="0"/>
          </a:p>
        </p:txBody>
      </p:sp>
      <p:sp>
        <p:nvSpPr>
          <p:cNvPr id="19" name="Shape 14"/>
          <p:cNvSpPr/>
          <p:nvPr/>
        </p:nvSpPr>
        <p:spPr>
          <a:xfrm>
            <a:off x="9226296" y="1965960"/>
            <a:ext cx="2606040" cy="3108960"/>
          </a:xfrm>
          <a:prstGeom prst="roundRect">
            <a:avLst>
              <a:gd name="adj" fmla="val 3509"/>
            </a:avLst>
          </a:prstGeom>
          <a:solidFill>
            <a:srgbClr val="00A896"/>
          </a:solidFill>
          <a:ln/>
        </p:spPr>
      </p:sp>
      <p:sp>
        <p:nvSpPr>
          <p:cNvPr id="20" name="Shape 15"/>
          <p:cNvSpPr/>
          <p:nvPr/>
        </p:nvSpPr>
        <p:spPr>
          <a:xfrm>
            <a:off x="10049256" y="2354580"/>
            <a:ext cx="960120" cy="960120"/>
          </a:xfrm>
          <a:prstGeom prst="ellipse">
            <a:avLst/>
          </a:prstGeom>
          <a:solidFill>
            <a:srgbClr val="FFFFFF"/>
          </a:solidFill>
          <a:ln/>
        </p:spPr>
      </p:sp>
      <p:pic>
        <p:nvPicPr>
          <p:cNvPr id="21" name="Image 3" descr="/home/claude/complaint_tracker/icons/server_teal.png">    </p:cNvPr>
          <p:cNvPicPr>
            <a:picLocks noChangeAspect="1"/>
          </p:cNvPicPr>
          <p:nvPr/>
        </p:nvPicPr>
        <p:blipFill>
          <a:blip r:embed="rId4"/>
          <a:stretch>
            <a:fillRect/>
          </a:stretch>
        </p:blipFill>
        <p:spPr>
          <a:xfrm>
            <a:off x="10289286" y="2594610"/>
            <a:ext cx="480060" cy="480060"/>
          </a:xfrm>
          <a:prstGeom prst="rect">
            <a:avLst/>
          </a:prstGeom>
        </p:spPr>
      </p:pic>
      <p:sp>
        <p:nvSpPr>
          <p:cNvPr id="22" name="Text 16"/>
          <p:cNvSpPr/>
          <p:nvPr/>
        </p:nvSpPr>
        <p:spPr>
          <a:xfrm>
            <a:off x="9409176" y="3566160"/>
            <a:ext cx="2240280" cy="3657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Hosting</a:t>
            </a:r>
            <a:endParaRPr lang="en-US" sz="1600" dirty="0"/>
          </a:p>
        </p:txBody>
      </p:sp>
      <p:sp>
        <p:nvSpPr>
          <p:cNvPr id="23" name="Text 17"/>
          <p:cNvSpPr/>
          <p:nvPr/>
        </p:nvSpPr>
        <p:spPr>
          <a:xfrm>
            <a:off x="9454896" y="4023360"/>
            <a:ext cx="2148840" cy="822960"/>
          </a:xfrm>
          <a:prstGeom prst="rect">
            <a:avLst/>
          </a:prstGeom>
          <a:noFill/>
          <a:ln/>
        </p:spPr>
        <p:txBody>
          <a:bodyPr wrap="square" rtlCol="0" anchor="t"/>
          <a:lstStyle/>
          <a:p>
            <a:pPr algn="ctr" indent="0" marL="0">
              <a:lnSpc>
                <a:spcPct val="120000"/>
              </a:lnSpc>
              <a:buNone/>
            </a:pPr>
            <a:r>
              <a:rPr lang="en-US" sz="1150" dirty="0">
                <a:solidFill>
                  <a:srgbClr val="FFFFFF"/>
                </a:solidFill>
                <a:latin typeface="Calibri" pitchFamily="34" charset="0"/>
                <a:ea typeface="Calibri" pitchFamily="34" charset="-122"/>
                <a:cs typeface="Calibri" pitchFamily="34" charset="-120"/>
              </a:rPr>
              <a:t>Cloud server or on-premise</a:t>
            </a:r>
            <a:endParaRPr lang="en-US" sz="1150" dirty="0"/>
          </a:p>
        </p:txBody>
      </p:sp>
      <p:sp>
        <p:nvSpPr>
          <p:cNvPr id="24" name="Text 18"/>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5" name="Text 19"/>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A40"/>
        </a:solidFill>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Complaint Resolution Workflow</a:t>
            </a:r>
            <a:endParaRPr lang="en-US" sz="3000" dirty="0"/>
          </a:p>
        </p:txBody>
      </p:sp>
      <p:sp>
        <p:nvSpPr>
          <p:cNvPr id="3" name="Shape 1"/>
          <p:cNvSpPr/>
          <p:nvPr/>
        </p:nvSpPr>
        <p:spPr>
          <a:xfrm>
            <a:off x="1371600" y="3017520"/>
            <a:ext cx="9326880" cy="0"/>
          </a:xfrm>
          <a:prstGeom prst="line">
            <a:avLst/>
          </a:prstGeom>
          <a:noFill/>
          <a:ln w="38100">
            <a:solidFill>
              <a:srgbClr val="00A896"/>
            </a:solidFill>
            <a:prstDash val="solid"/>
          </a:ln>
        </p:spPr>
      </p:sp>
      <p:sp>
        <p:nvSpPr>
          <p:cNvPr id="4" name="Shape 2"/>
          <p:cNvSpPr/>
          <p:nvPr/>
        </p:nvSpPr>
        <p:spPr>
          <a:xfrm>
            <a:off x="777240" y="2423160"/>
            <a:ext cx="1188720" cy="1188720"/>
          </a:xfrm>
          <a:prstGeom prst="ellipse">
            <a:avLst/>
          </a:prstGeom>
          <a:solidFill>
            <a:srgbClr val="02C39A"/>
          </a:solidFill>
          <a:ln/>
        </p:spPr>
      </p:sp>
      <p:pic>
        <p:nvPicPr>
          <p:cNvPr id="5" name="Image 0" descr="/home/claude/complaint_tracker/icons/filealt_dark.png">    </p:cNvPr>
          <p:cNvPicPr>
            <a:picLocks noChangeAspect="1"/>
          </p:cNvPicPr>
          <p:nvPr/>
        </p:nvPicPr>
        <p:blipFill>
          <a:blip r:embed="rId1"/>
          <a:stretch>
            <a:fillRect/>
          </a:stretch>
        </p:blipFill>
        <p:spPr>
          <a:xfrm>
            <a:off x="1074420" y="2720340"/>
            <a:ext cx="594360" cy="594360"/>
          </a:xfrm>
          <a:prstGeom prst="rect">
            <a:avLst/>
          </a:prstGeom>
        </p:spPr>
      </p:pic>
      <p:sp>
        <p:nvSpPr>
          <p:cNvPr id="6" name="Text 3"/>
          <p:cNvSpPr/>
          <p:nvPr/>
        </p:nvSpPr>
        <p:spPr>
          <a:xfrm>
            <a:off x="1143000" y="1965960"/>
            <a:ext cx="457200" cy="320040"/>
          </a:xfrm>
          <a:prstGeom prst="rect">
            <a:avLst/>
          </a:prstGeom>
          <a:noFill/>
          <a:ln/>
        </p:spPr>
        <p:txBody>
          <a:bodyPr wrap="square" rtlCol="0" anchor="ctr"/>
          <a:lstStyle/>
          <a:p>
            <a:pPr algn="ctr" indent="0" marL="0">
              <a:buNone/>
            </a:pPr>
            <a:r>
              <a:rPr lang="en-US" sz="1400" b="1" dirty="0">
                <a:solidFill>
                  <a:srgbClr val="02C39A"/>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457200" y="3794760"/>
            <a:ext cx="1828800" cy="54864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Submit</a:t>
            </a:r>
            <a:endParaRPr lang="en-US" sz="1300" dirty="0"/>
          </a:p>
        </p:txBody>
      </p:sp>
      <p:sp>
        <p:nvSpPr>
          <p:cNvPr id="8" name="Shape 5"/>
          <p:cNvSpPr/>
          <p:nvPr/>
        </p:nvSpPr>
        <p:spPr>
          <a:xfrm>
            <a:off x="3108960" y="2423160"/>
            <a:ext cx="1188720" cy="1188720"/>
          </a:xfrm>
          <a:prstGeom prst="ellipse">
            <a:avLst/>
          </a:prstGeom>
          <a:solidFill>
            <a:srgbClr val="02C39A"/>
          </a:solidFill>
          <a:ln/>
        </p:spPr>
      </p:sp>
      <p:pic>
        <p:nvPicPr>
          <p:cNvPr id="9" name="Image 1" descr="/home/claude/complaint_tracker/icons/sitemap_dark.png">    </p:cNvPr>
          <p:cNvPicPr>
            <a:picLocks noChangeAspect="1"/>
          </p:cNvPicPr>
          <p:nvPr/>
        </p:nvPicPr>
        <p:blipFill>
          <a:blip r:embed="rId2"/>
          <a:stretch>
            <a:fillRect/>
          </a:stretch>
        </p:blipFill>
        <p:spPr>
          <a:xfrm>
            <a:off x="3406140" y="2720340"/>
            <a:ext cx="594360" cy="594360"/>
          </a:xfrm>
          <a:prstGeom prst="rect">
            <a:avLst/>
          </a:prstGeom>
        </p:spPr>
      </p:pic>
      <p:sp>
        <p:nvSpPr>
          <p:cNvPr id="10" name="Text 6"/>
          <p:cNvSpPr/>
          <p:nvPr/>
        </p:nvSpPr>
        <p:spPr>
          <a:xfrm>
            <a:off x="3474720" y="1965960"/>
            <a:ext cx="457200" cy="320040"/>
          </a:xfrm>
          <a:prstGeom prst="rect">
            <a:avLst/>
          </a:prstGeom>
          <a:noFill/>
          <a:ln/>
        </p:spPr>
        <p:txBody>
          <a:bodyPr wrap="square" rtlCol="0" anchor="ctr"/>
          <a:lstStyle/>
          <a:p>
            <a:pPr algn="ctr" indent="0" marL="0">
              <a:buNone/>
            </a:pPr>
            <a:r>
              <a:rPr lang="en-US" sz="1400" b="1" dirty="0">
                <a:solidFill>
                  <a:srgbClr val="02C39A"/>
                </a:solidFill>
                <a:latin typeface="Cambria" pitchFamily="34" charset="0"/>
                <a:ea typeface="Cambria" pitchFamily="34" charset="-122"/>
                <a:cs typeface="Cambria" pitchFamily="34" charset="-120"/>
              </a:rPr>
              <a:t>2</a:t>
            </a:r>
            <a:endParaRPr lang="en-US" sz="1400" dirty="0"/>
          </a:p>
        </p:txBody>
      </p:sp>
      <p:sp>
        <p:nvSpPr>
          <p:cNvPr id="11" name="Text 7"/>
          <p:cNvSpPr/>
          <p:nvPr/>
        </p:nvSpPr>
        <p:spPr>
          <a:xfrm>
            <a:off x="2788920" y="3794760"/>
            <a:ext cx="1828800" cy="54864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Classify &amp; Assign</a:t>
            </a:r>
            <a:endParaRPr lang="en-US" sz="1300" dirty="0"/>
          </a:p>
        </p:txBody>
      </p:sp>
      <p:sp>
        <p:nvSpPr>
          <p:cNvPr id="12" name="Shape 8"/>
          <p:cNvSpPr/>
          <p:nvPr/>
        </p:nvSpPr>
        <p:spPr>
          <a:xfrm>
            <a:off x="5440680" y="2423160"/>
            <a:ext cx="1188720" cy="1188720"/>
          </a:xfrm>
          <a:prstGeom prst="ellipse">
            <a:avLst/>
          </a:prstGeom>
          <a:solidFill>
            <a:srgbClr val="02C39A"/>
          </a:solidFill>
          <a:ln/>
        </p:spPr>
      </p:sp>
      <p:pic>
        <p:nvPicPr>
          <p:cNvPr id="13" name="Image 2" descr="/home/claude/complaint_tracker/icons/cogs_dark.png">    </p:cNvPr>
          <p:cNvPicPr>
            <a:picLocks noChangeAspect="1"/>
          </p:cNvPicPr>
          <p:nvPr/>
        </p:nvPicPr>
        <p:blipFill>
          <a:blip r:embed="rId3"/>
          <a:stretch>
            <a:fillRect/>
          </a:stretch>
        </p:blipFill>
        <p:spPr>
          <a:xfrm>
            <a:off x="5737860" y="2720340"/>
            <a:ext cx="594360" cy="594360"/>
          </a:xfrm>
          <a:prstGeom prst="rect">
            <a:avLst/>
          </a:prstGeom>
        </p:spPr>
      </p:pic>
      <p:sp>
        <p:nvSpPr>
          <p:cNvPr id="14" name="Text 9"/>
          <p:cNvSpPr/>
          <p:nvPr/>
        </p:nvSpPr>
        <p:spPr>
          <a:xfrm>
            <a:off x="5806440" y="1965960"/>
            <a:ext cx="457200" cy="320040"/>
          </a:xfrm>
          <a:prstGeom prst="rect">
            <a:avLst/>
          </a:prstGeom>
          <a:noFill/>
          <a:ln/>
        </p:spPr>
        <p:txBody>
          <a:bodyPr wrap="square" rtlCol="0" anchor="ctr"/>
          <a:lstStyle/>
          <a:p>
            <a:pPr algn="ctr" indent="0" marL="0">
              <a:buNone/>
            </a:pPr>
            <a:r>
              <a:rPr lang="en-US" sz="1400" b="1" dirty="0">
                <a:solidFill>
                  <a:srgbClr val="02C39A"/>
                </a:solidFill>
                <a:latin typeface="Cambria" pitchFamily="34" charset="0"/>
                <a:ea typeface="Cambria" pitchFamily="34" charset="-122"/>
                <a:cs typeface="Cambria" pitchFamily="34" charset="-120"/>
              </a:rPr>
              <a:t>3</a:t>
            </a:r>
            <a:endParaRPr lang="en-US" sz="1400" dirty="0"/>
          </a:p>
        </p:txBody>
      </p:sp>
      <p:sp>
        <p:nvSpPr>
          <p:cNvPr id="15" name="Text 10"/>
          <p:cNvSpPr/>
          <p:nvPr/>
        </p:nvSpPr>
        <p:spPr>
          <a:xfrm>
            <a:off x="5120640" y="3794760"/>
            <a:ext cx="1828800" cy="54864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Investigate</a:t>
            </a:r>
            <a:endParaRPr lang="en-US" sz="1300" dirty="0"/>
          </a:p>
        </p:txBody>
      </p:sp>
      <p:sp>
        <p:nvSpPr>
          <p:cNvPr id="16" name="Shape 11"/>
          <p:cNvSpPr/>
          <p:nvPr/>
        </p:nvSpPr>
        <p:spPr>
          <a:xfrm>
            <a:off x="7772400" y="2423160"/>
            <a:ext cx="1188720" cy="1188720"/>
          </a:xfrm>
          <a:prstGeom prst="ellipse">
            <a:avLst/>
          </a:prstGeom>
          <a:solidFill>
            <a:srgbClr val="02C39A"/>
          </a:solidFill>
          <a:ln/>
        </p:spPr>
      </p:sp>
      <p:pic>
        <p:nvPicPr>
          <p:cNvPr id="17" name="Image 3" descr="/home/claude/complaint_tracker/icons/sync_dark.png">    </p:cNvPr>
          <p:cNvPicPr>
            <a:picLocks noChangeAspect="1"/>
          </p:cNvPicPr>
          <p:nvPr/>
        </p:nvPicPr>
        <p:blipFill>
          <a:blip r:embed="rId4"/>
          <a:stretch>
            <a:fillRect/>
          </a:stretch>
        </p:blipFill>
        <p:spPr>
          <a:xfrm>
            <a:off x="8069580" y="2720340"/>
            <a:ext cx="594360" cy="594360"/>
          </a:xfrm>
          <a:prstGeom prst="rect">
            <a:avLst/>
          </a:prstGeom>
        </p:spPr>
      </p:pic>
      <p:sp>
        <p:nvSpPr>
          <p:cNvPr id="18" name="Text 12"/>
          <p:cNvSpPr/>
          <p:nvPr/>
        </p:nvSpPr>
        <p:spPr>
          <a:xfrm>
            <a:off x="8138160" y="1965960"/>
            <a:ext cx="457200" cy="320040"/>
          </a:xfrm>
          <a:prstGeom prst="rect">
            <a:avLst/>
          </a:prstGeom>
          <a:noFill/>
          <a:ln/>
        </p:spPr>
        <p:txBody>
          <a:bodyPr wrap="square" rtlCol="0" anchor="ctr"/>
          <a:lstStyle/>
          <a:p>
            <a:pPr algn="ctr" indent="0" marL="0">
              <a:buNone/>
            </a:pPr>
            <a:r>
              <a:rPr lang="en-US" sz="1400" b="1" dirty="0">
                <a:solidFill>
                  <a:srgbClr val="02C39A"/>
                </a:solidFill>
                <a:latin typeface="Cambria" pitchFamily="34" charset="0"/>
                <a:ea typeface="Cambria" pitchFamily="34" charset="-122"/>
                <a:cs typeface="Cambria" pitchFamily="34" charset="-120"/>
              </a:rPr>
              <a:t>4</a:t>
            </a:r>
            <a:endParaRPr lang="en-US" sz="1400" dirty="0"/>
          </a:p>
        </p:txBody>
      </p:sp>
      <p:sp>
        <p:nvSpPr>
          <p:cNvPr id="19" name="Text 13"/>
          <p:cNvSpPr/>
          <p:nvPr/>
        </p:nvSpPr>
        <p:spPr>
          <a:xfrm>
            <a:off x="7452360" y="3794760"/>
            <a:ext cx="1828800" cy="54864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Update Status</a:t>
            </a:r>
            <a:endParaRPr lang="en-US" sz="1300" dirty="0"/>
          </a:p>
        </p:txBody>
      </p:sp>
      <p:sp>
        <p:nvSpPr>
          <p:cNvPr id="20" name="Shape 14"/>
          <p:cNvSpPr/>
          <p:nvPr/>
        </p:nvSpPr>
        <p:spPr>
          <a:xfrm>
            <a:off x="10104120" y="2423160"/>
            <a:ext cx="1188720" cy="1188720"/>
          </a:xfrm>
          <a:prstGeom prst="ellipse">
            <a:avLst/>
          </a:prstGeom>
          <a:solidFill>
            <a:srgbClr val="02C39A"/>
          </a:solidFill>
          <a:ln/>
        </p:spPr>
      </p:sp>
      <p:pic>
        <p:nvPicPr>
          <p:cNvPr id="21" name="Image 4" descr="/home/claude/complaint_tracker/icons/check_dark.png">    </p:cNvPr>
          <p:cNvPicPr>
            <a:picLocks noChangeAspect="1"/>
          </p:cNvPicPr>
          <p:nvPr/>
        </p:nvPicPr>
        <p:blipFill>
          <a:blip r:embed="rId5"/>
          <a:stretch>
            <a:fillRect/>
          </a:stretch>
        </p:blipFill>
        <p:spPr>
          <a:xfrm>
            <a:off x="10401300" y="2720340"/>
            <a:ext cx="594360" cy="594360"/>
          </a:xfrm>
          <a:prstGeom prst="rect">
            <a:avLst/>
          </a:prstGeom>
        </p:spPr>
      </p:pic>
      <p:sp>
        <p:nvSpPr>
          <p:cNvPr id="22" name="Text 15"/>
          <p:cNvSpPr/>
          <p:nvPr/>
        </p:nvSpPr>
        <p:spPr>
          <a:xfrm>
            <a:off x="10469880" y="1965960"/>
            <a:ext cx="457200" cy="320040"/>
          </a:xfrm>
          <a:prstGeom prst="rect">
            <a:avLst/>
          </a:prstGeom>
          <a:noFill/>
          <a:ln/>
        </p:spPr>
        <p:txBody>
          <a:bodyPr wrap="square" rtlCol="0" anchor="ctr"/>
          <a:lstStyle/>
          <a:p>
            <a:pPr algn="ctr" indent="0" marL="0">
              <a:buNone/>
            </a:pPr>
            <a:r>
              <a:rPr lang="en-US" sz="1400" b="1" dirty="0">
                <a:solidFill>
                  <a:srgbClr val="02C39A"/>
                </a:solidFill>
                <a:latin typeface="Cambria" pitchFamily="34" charset="0"/>
                <a:ea typeface="Cambria" pitchFamily="34" charset="-122"/>
                <a:cs typeface="Cambria" pitchFamily="34" charset="-120"/>
              </a:rPr>
              <a:t>5</a:t>
            </a:r>
            <a:endParaRPr lang="en-US" sz="1400" dirty="0"/>
          </a:p>
        </p:txBody>
      </p:sp>
      <p:sp>
        <p:nvSpPr>
          <p:cNvPr id="23" name="Text 16"/>
          <p:cNvSpPr/>
          <p:nvPr/>
        </p:nvSpPr>
        <p:spPr>
          <a:xfrm>
            <a:off x="9784080" y="3794760"/>
            <a:ext cx="1828800" cy="548640"/>
          </a:xfrm>
          <a:prstGeom prst="rect">
            <a:avLst/>
          </a:prstGeom>
          <a:noFill/>
          <a:ln/>
        </p:spPr>
        <p:txBody>
          <a:bodyPr wrap="square"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Resolve &amp; Close</a:t>
            </a:r>
            <a:endParaRPr lang="en-US" sz="1300" dirty="0"/>
          </a:p>
        </p:txBody>
      </p:sp>
      <p:sp>
        <p:nvSpPr>
          <p:cNvPr id="24" name="Text 17"/>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5" name="Text 18"/>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Benefits &amp; Impact</a:t>
            </a:r>
            <a:endParaRPr lang="en-US" sz="3200" dirty="0"/>
          </a:p>
        </p:txBody>
      </p:sp>
      <p:sp>
        <p:nvSpPr>
          <p:cNvPr id="3" name="Shape 1"/>
          <p:cNvSpPr/>
          <p:nvPr/>
        </p:nvSpPr>
        <p:spPr>
          <a:xfrm>
            <a:off x="640080" y="1691640"/>
            <a:ext cx="2606040" cy="3566160"/>
          </a:xfrm>
          <a:prstGeom prst="roundRect">
            <a:avLst>
              <a:gd name="adj" fmla="val 3509"/>
            </a:avLst>
          </a:prstGeom>
          <a:solidFill>
            <a:srgbClr val="F4FAF9"/>
          </a:solidFill>
          <a:ln/>
        </p:spPr>
      </p:sp>
      <p:sp>
        <p:nvSpPr>
          <p:cNvPr id="4" name="Text 2"/>
          <p:cNvSpPr/>
          <p:nvPr/>
        </p:nvSpPr>
        <p:spPr>
          <a:xfrm>
            <a:off x="777240" y="2057400"/>
            <a:ext cx="2331720" cy="91440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100%</a:t>
            </a:r>
            <a:endParaRPr lang="en-US" sz="3000" dirty="0"/>
          </a:p>
        </p:txBody>
      </p:sp>
      <p:sp>
        <p:nvSpPr>
          <p:cNvPr id="5" name="Shape 3"/>
          <p:cNvSpPr/>
          <p:nvPr/>
        </p:nvSpPr>
        <p:spPr>
          <a:xfrm>
            <a:off x="1463040" y="3108960"/>
            <a:ext cx="960120" cy="0"/>
          </a:xfrm>
          <a:prstGeom prst="line">
            <a:avLst/>
          </a:prstGeom>
          <a:noFill/>
          <a:ln w="25400">
            <a:solidFill>
              <a:srgbClr val="02C39A"/>
            </a:solidFill>
            <a:prstDash val="solid"/>
          </a:ln>
        </p:spPr>
      </p:sp>
      <p:sp>
        <p:nvSpPr>
          <p:cNvPr id="6" name="Text 4"/>
          <p:cNvSpPr/>
          <p:nvPr/>
        </p:nvSpPr>
        <p:spPr>
          <a:xfrm>
            <a:off x="868680" y="3383280"/>
            <a:ext cx="2148840" cy="1645920"/>
          </a:xfrm>
          <a:prstGeom prst="rect">
            <a:avLst/>
          </a:prstGeom>
          <a:noFill/>
          <a:ln/>
        </p:spPr>
        <p:txBody>
          <a:bodyPr wrap="square" rtlCol="0" anchor="t"/>
          <a:lstStyle/>
          <a:p>
            <a:pPr algn="ctr" indent="0" marL="0">
              <a:lnSpc>
                <a:spcPct val="125000"/>
              </a:lnSpc>
              <a:buNone/>
            </a:pPr>
            <a:r>
              <a:rPr lang="en-US" sz="1250" dirty="0">
                <a:solidFill>
                  <a:srgbClr val="0B2E33"/>
                </a:solidFill>
                <a:latin typeface="Calibri" pitchFamily="34" charset="0"/>
                <a:ea typeface="Calibri" pitchFamily="34" charset="-122"/>
                <a:cs typeface="Calibri" pitchFamily="34" charset="-120"/>
              </a:rPr>
              <a:t>Complaints centrally logged, none lost or duplicated</a:t>
            </a:r>
            <a:endParaRPr lang="en-US" sz="1250" dirty="0"/>
          </a:p>
        </p:txBody>
      </p:sp>
      <p:sp>
        <p:nvSpPr>
          <p:cNvPr id="7" name="Shape 5"/>
          <p:cNvSpPr/>
          <p:nvPr/>
        </p:nvSpPr>
        <p:spPr>
          <a:xfrm>
            <a:off x="3502152" y="1691640"/>
            <a:ext cx="2606040" cy="3566160"/>
          </a:xfrm>
          <a:prstGeom prst="roundRect">
            <a:avLst>
              <a:gd name="adj" fmla="val 3509"/>
            </a:avLst>
          </a:prstGeom>
          <a:solidFill>
            <a:srgbClr val="F4FAF9"/>
          </a:solidFill>
          <a:ln/>
        </p:spPr>
      </p:sp>
      <p:sp>
        <p:nvSpPr>
          <p:cNvPr id="8" name="Text 6"/>
          <p:cNvSpPr/>
          <p:nvPr/>
        </p:nvSpPr>
        <p:spPr>
          <a:xfrm>
            <a:off x="3639312" y="2057400"/>
            <a:ext cx="2331720" cy="91440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 Time</a:t>
            </a:r>
            <a:endParaRPr lang="en-US" sz="3000" dirty="0"/>
          </a:p>
        </p:txBody>
      </p:sp>
      <p:sp>
        <p:nvSpPr>
          <p:cNvPr id="9" name="Shape 7"/>
          <p:cNvSpPr/>
          <p:nvPr/>
        </p:nvSpPr>
        <p:spPr>
          <a:xfrm>
            <a:off x="4325112" y="3108960"/>
            <a:ext cx="960120" cy="0"/>
          </a:xfrm>
          <a:prstGeom prst="line">
            <a:avLst/>
          </a:prstGeom>
          <a:noFill/>
          <a:ln w="25400">
            <a:solidFill>
              <a:srgbClr val="02C39A"/>
            </a:solidFill>
            <a:prstDash val="solid"/>
          </a:ln>
        </p:spPr>
      </p:sp>
      <p:sp>
        <p:nvSpPr>
          <p:cNvPr id="10" name="Text 8"/>
          <p:cNvSpPr/>
          <p:nvPr/>
        </p:nvSpPr>
        <p:spPr>
          <a:xfrm>
            <a:off x="3730752" y="3383280"/>
            <a:ext cx="2148840" cy="1645920"/>
          </a:xfrm>
          <a:prstGeom prst="rect">
            <a:avLst/>
          </a:prstGeom>
          <a:noFill/>
          <a:ln/>
        </p:spPr>
        <p:txBody>
          <a:bodyPr wrap="square" rtlCol="0" anchor="t"/>
          <a:lstStyle/>
          <a:p>
            <a:pPr algn="ctr" indent="0" marL="0">
              <a:lnSpc>
                <a:spcPct val="125000"/>
              </a:lnSpc>
              <a:buNone/>
            </a:pPr>
            <a:r>
              <a:rPr lang="en-US" sz="1250" dirty="0">
                <a:solidFill>
                  <a:srgbClr val="0B2E33"/>
                </a:solidFill>
                <a:latin typeface="Calibri" pitchFamily="34" charset="0"/>
                <a:ea typeface="Calibri" pitchFamily="34" charset="-122"/>
                <a:cs typeface="Calibri" pitchFamily="34" charset="-120"/>
              </a:rPr>
              <a:t>Faster resolution through automatic staff assignment</a:t>
            </a:r>
            <a:endParaRPr lang="en-US" sz="1250" dirty="0"/>
          </a:p>
        </p:txBody>
      </p:sp>
      <p:sp>
        <p:nvSpPr>
          <p:cNvPr id="11" name="Shape 9"/>
          <p:cNvSpPr/>
          <p:nvPr/>
        </p:nvSpPr>
        <p:spPr>
          <a:xfrm>
            <a:off x="6364224" y="1691640"/>
            <a:ext cx="2606040" cy="3566160"/>
          </a:xfrm>
          <a:prstGeom prst="roundRect">
            <a:avLst>
              <a:gd name="adj" fmla="val 3509"/>
            </a:avLst>
          </a:prstGeom>
          <a:solidFill>
            <a:srgbClr val="F4FAF9"/>
          </a:solidFill>
          <a:ln/>
        </p:spPr>
      </p:sp>
      <p:sp>
        <p:nvSpPr>
          <p:cNvPr id="12" name="Text 10"/>
          <p:cNvSpPr/>
          <p:nvPr/>
        </p:nvSpPr>
        <p:spPr>
          <a:xfrm>
            <a:off x="6501384" y="2057400"/>
            <a:ext cx="2331720" cy="91440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Live</a:t>
            </a:r>
            <a:endParaRPr lang="en-US" sz="3000" dirty="0"/>
          </a:p>
        </p:txBody>
      </p:sp>
      <p:sp>
        <p:nvSpPr>
          <p:cNvPr id="13" name="Shape 11"/>
          <p:cNvSpPr/>
          <p:nvPr/>
        </p:nvSpPr>
        <p:spPr>
          <a:xfrm>
            <a:off x="7187184" y="3108960"/>
            <a:ext cx="960120" cy="0"/>
          </a:xfrm>
          <a:prstGeom prst="line">
            <a:avLst/>
          </a:prstGeom>
          <a:noFill/>
          <a:ln w="25400">
            <a:solidFill>
              <a:srgbClr val="02C39A"/>
            </a:solidFill>
            <a:prstDash val="solid"/>
          </a:ln>
        </p:spPr>
      </p:sp>
      <p:sp>
        <p:nvSpPr>
          <p:cNvPr id="14" name="Text 12"/>
          <p:cNvSpPr/>
          <p:nvPr/>
        </p:nvSpPr>
        <p:spPr>
          <a:xfrm>
            <a:off x="6592824" y="3383280"/>
            <a:ext cx="2148840" cy="1645920"/>
          </a:xfrm>
          <a:prstGeom prst="rect">
            <a:avLst/>
          </a:prstGeom>
          <a:noFill/>
          <a:ln/>
        </p:spPr>
        <p:txBody>
          <a:bodyPr wrap="square" rtlCol="0" anchor="t"/>
          <a:lstStyle/>
          <a:p>
            <a:pPr algn="ctr" indent="0" marL="0">
              <a:lnSpc>
                <a:spcPct val="125000"/>
              </a:lnSpc>
              <a:buNone/>
            </a:pPr>
            <a:r>
              <a:rPr lang="en-US" sz="1250" dirty="0">
                <a:solidFill>
                  <a:srgbClr val="0B2E33"/>
                </a:solidFill>
                <a:latin typeface="Calibri" pitchFamily="34" charset="0"/>
                <a:ea typeface="Calibri" pitchFamily="34" charset="-122"/>
                <a:cs typeface="Calibri" pitchFamily="34" charset="-120"/>
              </a:rPr>
              <a:t>Real-time status visibility for customers and managers</a:t>
            </a:r>
            <a:endParaRPr lang="en-US" sz="1250" dirty="0"/>
          </a:p>
        </p:txBody>
      </p:sp>
      <p:sp>
        <p:nvSpPr>
          <p:cNvPr id="15" name="Shape 13"/>
          <p:cNvSpPr/>
          <p:nvPr/>
        </p:nvSpPr>
        <p:spPr>
          <a:xfrm>
            <a:off x="9226296" y="1691640"/>
            <a:ext cx="2606040" cy="3566160"/>
          </a:xfrm>
          <a:prstGeom prst="roundRect">
            <a:avLst>
              <a:gd name="adj" fmla="val 3509"/>
            </a:avLst>
          </a:prstGeom>
          <a:solidFill>
            <a:srgbClr val="F4FAF9"/>
          </a:solidFill>
          <a:ln/>
        </p:spPr>
      </p:sp>
      <p:sp>
        <p:nvSpPr>
          <p:cNvPr id="16" name="Text 14"/>
          <p:cNvSpPr/>
          <p:nvPr/>
        </p:nvSpPr>
        <p:spPr>
          <a:xfrm>
            <a:off x="9363456" y="2057400"/>
            <a:ext cx="2331720" cy="914400"/>
          </a:xfrm>
          <a:prstGeom prst="rect">
            <a:avLst/>
          </a:prstGeom>
          <a:noFill/>
          <a:ln/>
        </p:spPr>
        <p:txBody>
          <a:bodyPr wrap="square"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Data-Driven</a:t>
            </a:r>
            <a:endParaRPr lang="en-US" sz="3000" dirty="0"/>
          </a:p>
        </p:txBody>
      </p:sp>
      <p:sp>
        <p:nvSpPr>
          <p:cNvPr id="17" name="Shape 15"/>
          <p:cNvSpPr/>
          <p:nvPr/>
        </p:nvSpPr>
        <p:spPr>
          <a:xfrm>
            <a:off x="10049256" y="3108960"/>
            <a:ext cx="960120" cy="0"/>
          </a:xfrm>
          <a:prstGeom prst="line">
            <a:avLst/>
          </a:prstGeom>
          <a:noFill/>
          <a:ln w="25400">
            <a:solidFill>
              <a:srgbClr val="02C39A"/>
            </a:solidFill>
            <a:prstDash val="solid"/>
          </a:ln>
        </p:spPr>
      </p:sp>
      <p:sp>
        <p:nvSpPr>
          <p:cNvPr id="18" name="Text 16"/>
          <p:cNvSpPr/>
          <p:nvPr/>
        </p:nvSpPr>
        <p:spPr>
          <a:xfrm>
            <a:off x="9454896" y="3383280"/>
            <a:ext cx="2148840" cy="1645920"/>
          </a:xfrm>
          <a:prstGeom prst="rect">
            <a:avLst/>
          </a:prstGeom>
          <a:noFill/>
          <a:ln/>
        </p:spPr>
        <p:txBody>
          <a:bodyPr wrap="square" rtlCol="0" anchor="t"/>
          <a:lstStyle/>
          <a:p>
            <a:pPr algn="ctr" indent="0" marL="0">
              <a:lnSpc>
                <a:spcPct val="125000"/>
              </a:lnSpc>
              <a:buNone/>
            </a:pPr>
            <a:r>
              <a:rPr lang="en-US" sz="1250" dirty="0">
                <a:solidFill>
                  <a:srgbClr val="0B2E33"/>
                </a:solidFill>
                <a:latin typeface="Calibri" pitchFamily="34" charset="0"/>
                <a:ea typeface="Calibri" pitchFamily="34" charset="-122"/>
                <a:cs typeface="Calibri" pitchFamily="34" charset="-120"/>
              </a:rPr>
              <a:t>Trend reports guide service quality improvements</a:t>
            </a:r>
            <a:endParaRPr lang="en-US" sz="1250" dirty="0"/>
          </a:p>
        </p:txBody>
      </p:sp>
      <p:sp>
        <p:nvSpPr>
          <p:cNvPr id="19" name="Text 17"/>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0" name="Text 18"/>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Future Scope</a:t>
            </a:r>
            <a:endParaRPr lang="en-US" sz="3200" dirty="0"/>
          </a:p>
        </p:txBody>
      </p:sp>
      <p:sp>
        <p:nvSpPr>
          <p:cNvPr id="3" name="Shape 1"/>
          <p:cNvSpPr/>
          <p:nvPr/>
        </p:nvSpPr>
        <p:spPr>
          <a:xfrm>
            <a:off x="754380" y="2194560"/>
            <a:ext cx="777240" cy="777240"/>
          </a:xfrm>
          <a:prstGeom prst="ellipse">
            <a:avLst/>
          </a:prstGeom>
          <a:solidFill>
            <a:srgbClr val="00A896"/>
          </a:solidFill>
          <a:ln/>
        </p:spPr>
      </p:sp>
      <p:pic>
        <p:nvPicPr>
          <p:cNvPr id="4" name="Image 0" descr="/home/claude/complaint_tracker/icons/bulb_white.png">    </p:cNvPr>
          <p:cNvPicPr>
            <a:picLocks noChangeAspect="1"/>
          </p:cNvPicPr>
          <p:nvPr/>
        </p:nvPicPr>
        <p:blipFill>
          <a:blip r:embed="rId1"/>
          <a:stretch>
            <a:fillRect/>
          </a:stretch>
        </p:blipFill>
        <p:spPr>
          <a:xfrm>
            <a:off x="948690" y="2388870"/>
            <a:ext cx="388620" cy="388620"/>
          </a:xfrm>
          <a:prstGeom prst="rect">
            <a:avLst/>
          </a:prstGeom>
        </p:spPr>
      </p:pic>
      <p:sp>
        <p:nvSpPr>
          <p:cNvPr id="5" name="Text 2"/>
          <p:cNvSpPr/>
          <p:nvPr/>
        </p:nvSpPr>
        <p:spPr>
          <a:xfrm>
            <a:off x="1691640" y="1737360"/>
            <a:ext cx="4069080" cy="36576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AI-Based Categorization</a:t>
            </a:r>
            <a:endParaRPr lang="en-US" sz="1550" dirty="0"/>
          </a:p>
        </p:txBody>
      </p:sp>
      <p:sp>
        <p:nvSpPr>
          <p:cNvPr id="6" name="Text 3"/>
          <p:cNvSpPr/>
          <p:nvPr/>
        </p:nvSpPr>
        <p:spPr>
          <a:xfrm>
            <a:off x="1691640" y="2167128"/>
            <a:ext cx="4069080" cy="1188720"/>
          </a:xfrm>
          <a:prstGeom prst="rect">
            <a:avLst/>
          </a:prstGeom>
          <a:noFill/>
          <a:ln/>
        </p:spPr>
        <p:txBody>
          <a:bodyPr wrap="square" rtlCol="0" anchor="t"/>
          <a:lstStyle/>
          <a:p>
            <a:pPr indent="0" marL="0">
              <a:lnSpc>
                <a:spcPct val="120000"/>
              </a:lnSpc>
              <a:buNone/>
            </a:pPr>
            <a:r>
              <a:rPr lang="en-US" sz="1250" dirty="0">
                <a:solidFill>
                  <a:srgbClr val="5A7A7E"/>
                </a:solidFill>
                <a:latin typeface="Calibri" pitchFamily="34" charset="0"/>
                <a:ea typeface="Calibri" pitchFamily="34" charset="-122"/>
                <a:cs typeface="Calibri" pitchFamily="34" charset="-120"/>
              </a:rPr>
              <a:t>Automatically classify and prioritize complaints using text analysis.</a:t>
            </a:r>
            <a:endParaRPr lang="en-US" sz="1250" dirty="0"/>
          </a:p>
        </p:txBody>
      </p:sp>
      <p:sp>
        <p:nvSpPr>
          <p:cNvPr id="7" name="Shape 4"/>
          <p:cNvSpPr/>
          <p:nvPr/>
        </p:nvSpPr>
        <p:spPr>
          <a:xfrm>
            <a:off x="6377940" y="2194560"/>
            <a:ext cx="777240" cy="777240"/>
          </a:xfrm>
          <a:prstGeom prst="ellipse">
            <a:avLst/>
          </a:prstGeom>
          <a:solidFill>
            <a:srgbClr val="00A896"/>
          </a:solidFill>
          <a:ln/>
        </p:spPr>
      </p:sp>
      <p:pic>
        <p:nvPicPr>
          <p:cNvPr id="8" name="Image 1" descr="/home/claude/complaint_tracker/icons/mobile_white.png">    </p:cNvPr>
          <p:cNvPicPr>
            <a:picLocks noChangeAspect="1"/>
          </p:cNvPicPr>
          <p:nvPr/>
        </p:nvPicPr>
        <p:blipFill>
          <a:blip r:embed="rId2"/>
          <a:stretch>
            <a:fillRect/>
          </a:stretch>
        </p:blipFill>
        <p:spPr>
          <a:xfrm>
            <a:off x="6572250" y="2388870"/>
            <a:ext cx="388620" cy="388620"/>
          </a:xfrm>
          <a:prstGeom prst="rect">
            <a:avLst/>
          </a:prstGeom>
        </p:spPr>
      </p:pic>
      <p:sp>
        <p:nvSpPr>
          <p:cNvPr id="9" name="Text 5"/>
          <p:cNvSpPr/>
          <p:nvPr/>
        </p:nvSpPr>
        <p:spPr>
          <a:xfrm>
            <a:off x="7315200" y="1737360"/>
            <a:ext cx="4069080" cy="36576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Mobile Application</a:t>
            </a:r>
            <a:endParaRPr lang="en-US" sz="1550" dirty="0"/>
          </a:p>
        </p:txBody>
      </p:sp>
      <p:sp>
        <p:nvSpPr>
          <p:cNvPr id="10" name="Text 6"/>
          <p:cNvSpPr/>
          <p:nvPr/>
        </p:nvSpPr>
        <p:spPr>
          <a:xfrm>
            <a:off x="7315200" y="2167128"/>
            <a:ext cx="4069080" cy="1188720"/>
          </a:xfrm>
          <a:prstGeom prst="rect">
            <a:avLst/>
          </a:prstGeom>
          <a:noFill/>
          <a:ln/>
        </p:spPr>
        <p:txBody>
          <a:bodyPr wrap="square" rtlCol="0" anchor="t"/>
          <a:lstStyle/>
          <a:p>
            <a:pPr indent="0" marL="0">
              <a:lnSpc>
                <a:spcPct val="120000"/>
              </a:lnSpc>
              <a:buNone/>
            </a:pPr>
            <a:r>
              <a:rPr lang="en-US" sz="1250" dirty="0">
                <a:solidFill>
                  <a:srgbClr val="5A7A7E"/>
                </a:solidFill>
                <a:latin typeface="Calibri" pitchFamily="34" charset="0"/>
                <a:ea typeface="Calibri" pitchFamily="34" charset="-122"/>
                <a:cs typeface="Calibri" pitchFamily="34" charset="-120"/>
              </a:rPr>
              <a:t>Native app for on-the-go complaint submission and tracking.</a:t>
            </a:r>
            <a:endParaRPr lang="en-US" sz="1250" dirty="0"/>
          </a:p>
        </p:txBody>
      </p:sp>
      <p:sp>
        <p:nvSpPr>
          <p:cNvPr id="11" name="Shape 7"/>
          <p:cNvSpPr/>
          <p:nvPr/>
        </p:nvSpPr>
        <p:spPr>
          <a:xfrm>
            <a:off x="754380" y="4434840"/>
            <a:ext cx="777240" cy="777240"/>
          </a:xfrm>
          <a:prstGeom prst="ellipse">
            <a:avLst/>
          </a:prstGeom>
          <a:solidFill>
            <a:srgbClr val="00A896"/>
          </a:solidFill>
          <a:ln/>
        </p:spPr>
      </p:sp>
      <p:pic>
        <p:nvPicPr>
          <p:cNvPr id="12" name="Image 2" descr="/home/claude/complaint_tracker/icons/chart_white.png">    </p:cNvPr>
          <p:cNvPicPr>
            <a:picLocks noChangeAspect="1"/>
          </p:cNvPicPr>
          <p:nvPr/>
        </p:nvPicPr>
        <p:blipFill>
          <a:blip r:embed="rId3"/>
          <a:stretch>
            <a:fillRect/>
          </a:stretch>
        </p:blipFill>
        <p:spPr>
          <a:xfrm>
            <a:off x="948690" y="4629150"/>
            <a:ext cx="388620" cy="388620"/>
          </a:xfrm>
          <a:prstGeom prst="rect">
            <a:avLst/>
          </a:prstGeom>
        </p:spPr>
      </p:pic>
      <p:sp>
        <p:nvSpPr>
          <p:cNvPr id="13" name="Text 8"/>
          <p:cNvSpPr/>
          <p:nvPr/>
        </p:nvSpPr>
        <p:spPr>
          <a:xfrm>
            <a:off x="1691640" y="3977640"/>
            <a:ext cx="4069080" cy="36576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Predictive Analytics</a:t>
            </a:r>
            <a:endParaRPr lang="en-US" sz="1550" dirty="0"/>
          </a:p>
        </p:txBody>
      </p:sp>
      <p:sp>
        <p:nvSpPr>
          <p:cNvPr id="14" name="Text 9"/>
          <p:cNvSpPr/>
          <p:nvPr/>
        </p:nvSpPr>
        <p:spPr>
          <a:xfrm>
            <a:off x="1691640" y="4407408"/>
            <a:ext cx="4069080" cy="1188720"/>
          </a:xfrm>
          <a:prstGeom prst="rect">
            <a:avLst/>
          </a:prstGeom>
          <a:noFill/>
          <a:ln/>
        </p:spPr>
        <p:txBody>
          <a:bodyPr wrap="square" rtlCol="0" anchor="t"/>
          <a:lstStyle/>
          <a:p>
            <a:pPr indent="0" marL="0">
              <a:lnSpc>
                <a:spcPct val="120000"/>
              </a:lnSpc>
              <a:buNone/>
            </a:pPr>
            <a:r>
              <a:rPr lang="en-US" sz="1250" dirty="0">
                <a:solidFill>
                  <a:srgbClr val="5A7A7E"/>
                </a:solidFill>
                <a:latin typeface="Calibri" pitchFamily="34" charset="0"/>
                <a:ea typeface="Calibri" pitchFamily="34" charset="-122"/>
                <a:cs typeface="Calibri" pitchFamily="34" charset="-120"/>
              </a:rPr>
              <a:t>Forecast complaint volume and staffing needs from historical trends.</a:t>
            </a:r>
            <a:endParaRPr lang="en-US" sz="1250" dirty="0"/>
          </a:p>
        </p:txBody>
      </p:sp>
      <p:sp>
        <p:nvSpPr>
          <p:cNvPr id="15" name="Shape 10"/>
          <p:cNvSpPr/>
          <p:nvPr/>
        </p:nvSpPr>
        <p:spPr>
          <a:xfrm>
            <a:off x="6377940" y="4434840"/>
            <a:ext cx="777240" cy="777240"/>
          </a:xfrm>
          <a:prstGeom prst="ellipse">
            <a:avLst/>
          </a:prstGeom>
          <a:solidFill>
            <a:srgbClr val="00A896"/>
          </a:solidFill>
          <a:ln/>
        </p:spPr>
      </p:sp>
      <p:pic>
        <p:nvPicPr>
          <p:cNvPr id="16" name="Image 3" descr="/home/claude/complaint_tracker/icons/bell_white.png">    </p:cNvPr>
          <p:cNvPicPr>
            <a:picLocks noChangeAspect="1"/>
          </p:cNvPicPr>
          <p:nvPr/>
        </p:nvPicPr>
        <p:blipFill>
          <a:blip r:embed="rId4"/>
          <a:stretch>
            <a:fillRect/>
          </a:stretch>
        </p:blipFill>
        <p:spPr>
          <a:xfrm>
            <a:off x="6572250" y="4629150"/>
            <a:ext cx="388620" cy="388620"/>
          </a:xfrm>
          <a:prstGeom prst="rect">
            <a:avLst/>
          </a:prstGeom>
        </p:spPr>
      </p:pic>
      <p:sp>
        <p:nvSpPr>
          <p:cNvPr id="17" name="Text 11"/>
          <p:cNvSpPr/>
          <p:nvPr/>
        </p:nvSpPr>
        <p:spPr>
          <a:xfrm>
            <a:off x="7315200" y="3977640"/>
            <a:ext cx="4069080" cy="365760"/>
          </a:xfrm>
          <a:prstGeom prst="rect">
            <a:avLst/>
          </a:prstGeom>
          <a:noFill/>
          <a:ln/>
        </p:spPr>
        <p:txBody>
          <a:bodyPr wrap="square" rtlCol="0" anchor="ctr"/>
          <a:lstStyle/>
          <a:p>
            <a:pPr indent="0" marL="0">
              <a:buNone/>
            </a:pPr>
            <a:r>
              <a:rPr lang="en-US" sz="1550" b="1" dirty="0">
                <a:solidFill>
                  <a:srgbClr val="013A40"/>
                </a:solidFill>
                <a:latin typeface="Cambria" pitchFamily="34" charset="0"/>
                <a:ea typeface="Cambria" pitchFamily="34" charset="-122"/>
                <a:cs typeface="Cambria" pitchFamily="34" charset="-120"/>
              </a:rPr>
              <a:t>Multi-Channel Alerts</a:t>
            </a:r>
            <a:endParaRPr lang="en-US" sz="1550" dirty="0"/>
          </a:p>
        </p:txBody>
      </p:sp>
      <p:sp>
        <p:nvSpPr>
          <p:cNvPr id="18" name="Text 12"/>
          <p:cNvSpPr/>
          <p:nvPr/>
        </p:nvSpPr>
        <p:spPr>
          <a:xfrm>
            <a:off x="7315200" y="4407408"/>
            <a:ext cx="4069080" cy="1188720"/>
          </a:xfrm>
          <a:prstGeom prst="rect">
            <a:avLst/>
          </a:prstGeom>
          <a:noFill/>
          <a:ln/>
        </p:spPr>
        <p:txBody>
          <a:bodyPr wrap="square" rtlCol="0" anchor="t"/>
          <a:lstStyle/>
          <a:p>
            <a:pPr indent="0" marL="0">
              <a:lnSpc>
                <a:spcPct val="120000"/>
              </a:lnSpc>
              <a:buNone/>
            </a:pPr>
            <a:r>
              <a:rPr lang="en-US" sz="1250" dirty="0">
                <a:solidFill>
                  <a:srgbClr val="5A7A7E"/>
                </a:solidFill>
                <a:latin typeface="Calibri" pitchFamily="34" charset="0"/>
                <a:ea typeface="Calibri" pitchFamily="34" charset="-122"/>
                <a:cs typeface="Calibri" pitchFamily="34" charset="-120"/>
              </a:rPr>
              <a:t>SMS and push notifications alongside email updates.</a:t>
            </a:r>
            <a:endParaRPr lang="en-US" sz="1250" dirty="0"/>
          </a:p>
        </p:txBody>
      </p:sp>
      <p:sp>
        <p:nvSpPr>
          <p:cNvPr id="19" name="Text 13"/>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20" name="Text 14"/>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875520" y="4572000"/>
            <a:ext cx="3840480" cy="3840480"/>
          </a:xfrm>
          <a:prstGeom prst="ellipse">
            <a:avLst/>
          </a:prstGeom>
          <a:solidFill>
            <a:srgbClr val="028090">
              <a:alpha val="45000"/>
            </a:srgbClr>
          </a:solidFill>
          <a:ln/>
        </p:spPr>
      </p:sp>
      <p:sp>
        <p:nvSpPr>
          <p:cNvPr id="3" name="Shape 1"/>
          <p:cNvSpPr/>
          <p:nvPr/>
        </p:nvSpPr>
        <p:spPr>
          <a:xfrm>
            <a:off x="1188720" y="1508760"/>
            <a:ext cx="1371600" cy="1371600"/>
          </a:xfrm>
          <a:prstGeom prst="ellipse">
            <a:avLst/>
          </a:prstGeom>
          <a:solidFill>
            <a:srgbClr val="02C39A"/>
          </a:solidFill>
          <a:ln/>
        </p:spPr>
      </p:sp>
      <p:pic>
        <p:nvPicPr>
          <p:cNvPr id="4" name="Image 0" descr="/home/claude/complaint_tracker/icons/check_dark.png">    </p:cNvPr>
          <p:cNvPicPr>
            <a:picLocks noChangeAspect="1"/>
          </p:cNvPicPr>
          <p:nvPr/>
        </p:nvPicPr>
        <p:blipFill>
          <a:blip r:embed="rId1"/>
          <a:stretch>
            <a:fillRect/>
          </a:stretch>
        </p:blipFill>
        <p:spPr>
          <a:xfrm>
            <a:off x="1531620" y="1851660"/>
            <a:ext cx="685800" cy="685800"/>
          </a:xfrm>
          <a:prstGeom prst="rect">
            <a:avLst/>
          </a:prstGeom>
        </p:spPr>
      </p:pic>
      <p:sp>
        <p:nvSpPr>
          <p:cNvPr id="5" name="Text 2"/>
          <p:cNvSpPr/>
          <p:nvPr/>
        </p:nvSpPr>
        <p:spPr>
          <a:xfrm>
            <a:off x="822960" y="2926080"/>
            <a:ext cx="822960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6" name="Text 3"/>
          <p:cNvSpPr/>
          <p:nvPr/>
        </p:nvSpPr>
        <p:spPr>
          <a:xfrm>
            <a:off x="868680" y="3703320"/>
            <a:ext cx="8961120" cy="1188720"/>
          </a:xfrm>
          <a:prstGeom prst="rect">
            <a:avLst/>
          </a:prstGeom>
          <a:noFill/>
          <a:ln/>
        </p:spPr>
        <p:txBody>
          <a:bodyPr wrap="square" rtlCol="0" anchor="ctr"/>
          <a:lstStyle/>
          <a:p>
            <a:pPr indent="0" marL="0">
              <a:lnSpc>
                <a:spcPct val="130000"/>
              </a:lnSpc>
              <a:buNone/>
            </a:pPr>
            <a:r>
              <a:rPr lang="en-US" sz="1500" dirty="0">
                <a:solidFill>
                  <a:srgbClr val="F4FAF9"/>
                </a:solidFill>
                <a:latin typeface="Calibri" pitchFamily="34" charset="0"/>
                <a:ea typeface="Calibri" pitchFamily="34" charset="-122"/>
                <a:cs typeface="Calibri" pitchFamily="34" charset="-120"/>
              </a:rPr>
              <a:t>The Complaint Tracker replaces scattered, manual complaint handling with a structured relational database that centralizes records, assigns accountability, and surfaces the reports managers need to raise service quality — turning every complaint into an opportunity to improve.</a:t>
            </a:r>
            <a:endParaRPr lang="en-US" sz="1500" dirty="0"/>
          </a:p>
        </p:txBody>
      </p:sp>
      <p:sp>
        <p:nvSpPr>
          <p:cNvPr id="7" name="Text 4"/>
          <p:cNvSpPr/>
          <p:nvPr/>
        </p:nvSpPr>
        <p:spPr>
          <a:xfrm>
            <a:off x="822960" y="5120640"/>
            <a:ext cx="5486400" cy="548640"/>
          </a:xfrm>
          <a:prstGeom prst="rect">
            <a:avLst/>
          </a:prstGeom>
          <a:noFill/>
          <a:ln/>
        </p:spPr>
        <p:txBody>
          <a:bodyPr wrap="square"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Thank You</a:t>
            </a:r>
            <a:endParaRPr lang="en-US" sz="2000" dirty="0"/>
          </a:p>
        </p:txBody>
      </p:sp>
      <p:sp>
        <p:nvSpPr>
          <p:cNvPr id="8" name="Text 5"/>
          <p:cNvSpPr/>
          <p:nvPr/>
        </p:nvSpPr>
        <p:spPr>
          <a:xfrm>
            <a:off x="457200" y="6473952"/>
            <a:ext cx="5486400" cy="274320"/>
          </a:xfrm>
          <a:prstGeom prst="rect">
            <a:avLst/>
          </a:prstGeom>
          <a:noFill/>
          <a:ln/>
        </p:spPr>
        <p:txBody>
          <a:bodyPr wrap="square" rtlCol="0" anchor="ctr"/>
          <a:lstStyle/>
          <a:p>
            <a:pPr algn="l" indent="0" marL="0">
              <a:buNone/>
            </a:pPr>
            <a:r>
              <a:rPr lang="en-US" sz="1000" dirty="0">
                <a:solidFill>
                  <a:srgbClr val="5A7A7E"/>
                </a:solidFill>
                <a:latin typeface="Calibri" pitchFamily="34" charset="0"/>
                <a:ea typeface="Calibri" pitchFamily="34" charset="-122"/>
                <a:cs typeface="Calibri" pitchFamily="34" charset="-120"/>
              </a:rPr>
              <a:t>Complaint Tracker</a:t>
            </a:r>
            <a:endParaRPr lang="en-US" sz="10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5A7A7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2026-07-31T05:27:06Z</dcterms:created>
  <dcterms:modified xsi:type="dcterms:W3CDTF">2026-07-31T05:27:06Z</dcterms:modified>
</cp:coreProperties>
</file>